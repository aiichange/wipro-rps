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75" r:id="rId15"/>
    <p:sldId id="268" r:id="rId16"/>
    <p:sldId id="276" r:id="rId17"/>
    <p:sldId id="270" r:id="rId18"/>
    <p:sldId id="277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7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22C63-2E60-1210-BB6B-E86B4D618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E80A3-7F87-BFBB-1E6D-6FC17C804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AB11E-14DE-1A05-7FBA-55CF5CA79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EE26-C73A-487D-B283-3A1206B9F6C6}" type="datetimeFigureOut">
              <a:rPr lang="en-IN" smtClean="0"/>
              <a:t>11/12/2025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C10E6-129E-C460-C387-36047C339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DF053-C845-6F2B-EAEB-0083D01A4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63E-4825-45FC-9CFB-AF87C1C1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076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1137B-F859-F1CE-5CF3-3B53F5CF5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B01F8-8F1A-72B2-FE6D-0C26CD90E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BE3C5-FE12-F52F-845C-3726EB4B9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EE26-C73A-487D-B283-3A1206B9F6C6}" type="datetimeFigureOut">
              <a:rPr lang="en-IN" smtClean="0"/>
              <a:t>11/12/2025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5534A-F892-B98D-815F-230E3C488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F0472-E81E-2710-69A2-521E1BFC3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63E-4825-45FC-9CFB-AF87C1C1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065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8280-BE2E-7F62-F112-2729F61E4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2E4EF-9C9A-F281-0A91-AD4F90062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E0D3C-B697-AB9E-1C34-269F90BFC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EE26-C73A-487D-B283-3A1206B9F6C6}" type="datetimeFigureOut">
              <a:rPr lang="en-IN" smtClean="0"/>
              <a:t>11/12/2025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AB354-2E65-2280-59B6-DBEC3012C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3CAFF-76A2-52DF-1DD7-93B43343E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63E-4825-45FC-9CFB-AF87C1C1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894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68BDD-170E-27CF-782F-381D1E501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DD9C-24A1-9CF2-E389-808ADD4623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84F44F-F0A5-8463-31B0-8A6C43FDA4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CC575-4E95-3BA8-FDD0-394587089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EE26-C73A-487D-B283-3A1206B9F6C6}" type="datetimeFigureOut">
              <a:rPr lang="en-IN" smtClean="0"/>
              <a:t>11/12/2025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641E2-2C34-40CE-97FD-D008F8F01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5CC29E-A911-374B-9CEE-E4462B3D2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63E-4825-45FC-9CFB-AF87C1C1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078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B90FB-DE37-36E2-4CB4-0187004DE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CCEE8-D1DF-F106-2F39-F42E7F890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23C97D-15B5-B962-172E-799EC3D86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D90CD4-D160-5BB9-2604-569CBBDC9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1ACC2D-755E-9537-7CF4-D23C8CDDE0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742AC8-4530-C8B9-BA56-0257918E4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EE26-C73A-487D-B283-3A1206B9F6C6}" type="datetimeFigureOut">
              <a:rPr lang="en-IN" smtClean="0"/>
              <a:t>11/12/2025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0D740C-473F-8C8D-CB02-E9687565F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922AB4-5E5E-3F11-2A86-822FFC41C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63E-4825-45FC-9CFB-AF87C1C1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841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94E75-6858-76A2-531F-7F7DB28C5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62C9A9-C79A-536F-94E1-7E1279924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EE26-C73A-487D-B283-3A1206B9F6C6}" type="datetimeFigureOut">
              <a:rPr lang="en-IN" smtClean="0"/>
              <a:t>11/12/2025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3E5CB-819C-D337-60AC-27B7B93C1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867F90-B31A-A65B-D0B8-3A0CF0F4A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63E-4825-45FC-9CFB-AF87C1C1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837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8D7CBD-B8EA-F9F4-2762-727CBD17B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EE26-C73A-487D-B283-3A1206B9F6C6}" type="datetimeFigureOut">
              <a:rPr lang="en-IN" smtClean="0"/>
              <a:t>11/12/2025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69601E-5507-BB51-7A0D-9559B4A0C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C16A4-8573-2480-BD05-087FDEB6F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63E-4825-45FC-9CFB-AF87C1C1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145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1950D-CE49-3AC1-31F4-5E3115293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61735-E192-C368-301C-4A3009744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88933-CB78-5C6B-AC23-3D6EE0DC1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F1834-AC63-B4F4-F5A7-3D69CDAAE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EE26-C73A-487D-B283-3A1206B9F6C6}" type="datetimeFigureOut">
              <a:rPr lang="en-IN" smtClean="0"/>
              <a:t>11/12/2025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58D1C-7815-DAA8-C64F-03EB8F13B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0458B-3D36-731E-DD3A-7A15A72D9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63E-4825-45FC-9CFB-AF87C1C1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304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FB03E-1ED6-DC23-CD9B-DBDC09CAE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366897-AA49-B99B-E7E3-AAE38A5F5B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BE8AFD-52B9-40AA-689A-A19116C2C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E03CE3-6D5B-C902-AC72-0AB69D7D7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EE26-C73A-487D-B283-3A1206B9F6C6}" type="datetimeFigureOut">
              <a:rPr lang="en-IN" smtClean="0"/>
              <a:t>11/12/2025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F519A-F77A-0B08-F749-2F9826DBE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67081-ACA6-D1EA-3F8A-D12C7D694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63E-4825-45FC-9CFB-AF87C1C1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204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40A6F-2ADB-1676-5013-D47C05917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BD6FD-78A1-1B90-1DBE-53751B236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55F55-0360-4C0A-E42B-421F25E9D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EE26-C73A-487D-B283-3A1206B9F6C6}" type="datetimeFigureOut">
              <a:rPr lang="en-IN" smtClean="0"/>
              <a:t>11/12/2025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BD358-AFA8-660D-6951-2623C24D2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8F74F-A7E5-9402-2730-0941BB182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63E-4825-45FC-9CFB-AF87C1C1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892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DBE296-0007-E0C0-77EF-103145D521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F5486-B9B7-B8BA-C4E5-D90E3CEA9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3EDAE-7170-3D51-EF3C-07618CCE9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5EE26-C73A-487D-B283-3A1206B9F6C6}" type="datetimeFigureOut">
              <a:rPr lang="en-IN" smtClean="0"/>
              <a:t>11/12/2025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53111-CB90-262F-3A6E-8805E358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E0013-B589-0983-5849-985B2E73C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C863E-4825-45FC-9CFB-AF87C1C1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366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BA0448-CB63-9990-72F5-9A1B5BC5F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63389-64B3-4DBC-B823-BF971BF8B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67B35-501E-2AE1-77F2-6AA2CBA4CE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35EE26-C73A-487D-B283-3A1206B9F6C6}" type="datetimeFigureOut">
              <a:rPr lang="en-IN" smtClean="0"/>
              <a:t>11/12/2025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F936E-87A8-26F8-587D-0B14C8A96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BDA3A-E656-A319-8597-AB1F2F12D9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BC863E-4825-45FC-9CFB-AF87C1C1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74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../../../../../Data%20Scientist/Presentations/Data%20Science/Data%20Science%20ecosystem%20for%20AiML%20Model%20Deployment.pptx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.gov.uk/" TargetMode="External"/><Relationship Id="rId13" Type="http://schemas.openxmlformats.org/officeDocument/2006/relationships/hyperlink" Target="https://www.worldbank.org/en/data" TargetMode="External"/><Relationship Id="rId18" Type="http://schemas.openxmlformats.org/officeDocument/2006/relationships/hyperlink" Target="https://github.com/awesomedata/awesome-public-datasets?utm_source=chatgpt.com" TargetMode="External"/><Relationship Id="rId3" Type="http://schemas.openxmlformats.org/officeDocument/2006/relationships/hyperlink" Target="https://datasetsearch.research.google.com/?utm_source=chatgpt.com" TargetMode="External"/><Relationship Id="rId7" Type="http://schemas.openxmlformats.org/officeDocument/2006/relationships/hyperlink" Target="https://registry.opendata.aws/" TargetMode="External"/><Relationship Id="rId12" Type="http://schemas.openxmlformats.org/officeDocument/2006/relationships/hyperlink" Target="https://dataportals.org/?utm_source=chatgpt.com" TargetMode="External"/><Relationship Id="rId17" Type="http://schemas.openxmlformats.org/officeDocument/2006/relationships/hyperlink" Target="https://data.gov.ph/" TargetMode="External"/><Relationship Id="rId2" Type="http://schemas.openxmlformats.org/officeDocument/2006/relationships/hyperlink" Target="https://www.kaggle.com/datasets?utm_source=chatgpt.com" TargetMode="External"/><Relationship Id="rId16" Type="http://schemas.openxmlformats.org/officeDocument/2006/relationships/hyperlink" Target="https://data.gov.sa/en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ata.europa.eu/en" TargetMode="External"/><Relationship Id="rId11" Type="http://schemas.openxmlformats.org/officeDocument/2006/relationships/hyperlink" Target="https://opendatainception.io/?utm_source=chatgpt.com" TargetMode="External"/><Relationship Id="rId5" Type="http://schemas.openxmlformats.org/officeDocument/2006/relationships/hyperlink" Target="https://data.gov.in/" TargetMode="External"/><Relationship Id="rId15" Type="http://schemas.openxmlformats.org/officeDocument/2006/relationships/hyperlink" Target="https://www.zenodo.org/" TargetMode="External"/><Relationship Id="rId10" Type="http://schemas.openxmlformats.org/officeDocument/2006/relationships/hyperlink" Target="https://open.gsa.gov/data/?utm_source=chatgpt.com" TargetMode="External"/><Relationship Id="rId4" Type="http://schemas.openxmlformats.org/officeDocument/2006/relationships/hyperlink" Target="https://www.data.gov/" TargetMode="External"/><Relationship Id="rId9" Type="http://schemas.openxmlformats.org/officeDocument/2006/relationships/hyperlink" Target="https://data.nasa.gov/?utm_source=chatgpt.com" TargetMode="External"/><Relationship Id="rId14" Type="http://schemas.openxmlformats.org/officeDocument/2006/relationships/hyperlink" Target="https://data.worldbank.org/?utm_source=chatgpt.com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399A56-9B65-37D1-52C8-3DCA593F5BB6}"/>
              </a:ext>
            </a:extLst>
          </p:cNvPr>
          <p:cNvSpPr txBox="1"/>
          <p:nvPr/>
        </p:nvSpPr>
        <p:spPr>
          <a:xfrm>
            <a:off x="520861" y="381965"/>
            <a:ext cx="11493661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highlight>
                  <a:srgbClr val="FFFF00"/>
                </a:highlight>
              </a:rPr>
              <a:t>What Is Applied Machine Learning in Python?</a:t>
            </a:r>
          </a:p>
          <a:p>
            <a:pPr>
              <a:buNone/>
            </a:pPr>
            <a:r>
              <a:rPr lang="en-US" sz="2800" b="1" dirty="0"/>
              <a:t>Applied Machine Learning (ML)</a:t>
            </a:r>
            <a:r>
              <a:rPr lang="en-US" sz="2800" dirty="0"/>
              <a:t> in Python means </a:t>
            </a:r>
            <a:r>
              <a:rPr lang="en-US" sz="2800" b="1" dirty="0"/>
              <a:t>using machine learning algorithms and tools</a:t>
            </a:r>
            <a:r>
              <a:rPr lang="en-US" sz="2800" dirty="0"/>
              <a:t> to solve </a:t>
            </a:r>
            <a:r>
              <a:rPr lang="en-US" sz="2800" i="1" dirty="0"/>
              <a:t>real-world problems</a:t>
            </a:r>
            <a:r>
              <a:rPr lang="en-US" sz="2800" dirty="0"/>
              <a:t> — not just studying the theory.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It focuses on </a:t>
            </a:r>
            <a:r>
              <a:rPr lang="en-US" sz="2800" b="1" dirty="0"/>
              <a:t>how to implement</a:t>
            </a:r>
            <a:r>
              <a:rPr lang="en-US" sz="2800" dirty="0"/>
              <a:t>, </a:t>
            </a:r>
            <a:r>
              <a:rPr lang="en-US" sz="2800" b="1" dirty="0"/>
              <a:t>train</a:t>
            </a:r>
            <a:r>
              <a:rPr lang="en-US" sz="2800" dirty="0"/>
              <a:t>, </a:t>
            </a:r>
            <a:r>
              <a:rPr lang="en-US" sz="2800" b="1" dirty="0"/>
              <a:t>test</a:t>
            </a:r>
            <a:r>
              <a:rPr lang="en-US" sz="2800" dirty="0"/>
              <a:t>, and </a:t>
            </a:r>
            <a:r>
              <a:rPr lang="en-US" sz="2800" b="1" dirty="0"/>
              <a:t>deploy models</a:t>
            </a:r>
            <a:r>
              <a:rPr lang="en-US" sz="2800" dirty="0"/>
              <a:t> using </a:t>
            </a:r>
            <a:r>
              <a:rPr lang="en-US" sz="2800" b="1" dirty="0"/>
              <a:t>Python libraries</a:t>
            </a:r>
            <a:r>
              <a:rPr lang="en-US" sz="2800" dirty="0"/>
              <a:t>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</a:rPr>
              <a:t>scikit-learn</a:t>
            </a:r>
            <a:r>
              <a:rPr lang="en-US" sz="2800" dirty="0"/>
              <a:t> — for building and evaluating ML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</a:rPr>
              <a:t>pandas</a:t>
            </a:r>
            <a:r>
              <a:rPr lang="en-US" sz="2800" dirty="0"/>
              <a:t> &amp; </a:t>
            </a:r>
            <a:r>
              <a:rPr lang="en-US" sz="2800" dirty="0" err="1">
                <a:latin typeface="Courier New" panose="02070309020205020404" pitchFamily="49" charset="0"/>
              </a:rPr>
              <a:t>numpy</a:t>
            </a:r>
            <a:r>
              <a:rPr lang="en-US" sz="2800" dirty="0"/>
              <a:t> — for data cleaning and preparation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</a:rPr>
              <a:t>matplotlib</a:t>
            </a:r>
            <a:r>
              <a:rPr lang="en-US" sz="2800" dirty="0"/>
              <a:t> &amp; </a:t>
            </a:r>
            <a:r>
              <a:rPr lang="en-US" sz="2800" dirty="0">
                <a:latin typeface="Courier New" panose="02070309020205020404" pitchFamily="49" charset="0"/>
              </a:rPr>
              <a:t>seaborn</a:t>
            </a:r>
            <a:r>
              <a:rPr lang="en-US" sz="2800" dirty="0"/>
              <a:t> — for data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err="1">
                <a:latin typeface="Courier New" panose="02070309020205020404" pitchFamily="49" charset="0"/>
              </a:rPr>
              <a:t>joblib</a:t>
            </a:r>
            <a:r>
              <a:rPr lang="en-US" sz="2800" dirty="0"/>
              <a:t> or </a:t>
            </a:r>
            <a:r>
              <a:rPr lang="en-US" sz="2800" dirty="0">
                <a:latin typeface="Courier New" panose="02070309020205020404" pitchFamily="49" charset="0"/>
              </a:rPr>
              <a:t>pickle</a:t>
            </a:r>
            <a:r>
              <a:rPr lang="en-US" sz="2800" dirty="0"/>
              <a:t> — for saving trained models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None/>
            </a:pPr>
            <a:r>
              <a:rPr lang="en-US" sz="2800" dirty="0"/>
              <a:t>So “applied” means </a:t>
            </a:r>
            <a:r>
              <a:rPr lang="en-US" sz="2800" b="1" dirty="0"/>
              <a:t>hands-on</a:t>
            </a:r>
            <a:r>
              <a:rPr lang="en-US" sz="2800" dirty="0"/>
              <a:t> — actually coding the pipeline:</a:t>
            </a:r>
          </a:p>
          <a:p>
            <a:pPr>
              <a:buNone/>
            </a:pPr>
            <a:r>
              <a:rPr lang="en-US" sz="2800" dirty="0">
                <a:highlight>
                  <a:srgbClr val="FFFF00"/>
                </a:highlight>
              </a:rPr>
              <a:t>Data → Clean → Train Model → Evaluate → Predict → Deploy</a:t>
            </a:r>
          </a:p>
        </p:txBody>
      </p:sp>
    </p:spTree>
    <p:extLst>
      <p:ext uri="{BB962C8B-B14F-4D97-AF65-F5344CB8AC3E}">
        <p14:creationId xmlns:p14="http://schemas.microsoft.com/office/powerpoint/2010/main" val="3304439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56B4F6F-8619-679D-B33F-3449A188C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205" y="184805"/>
            <a:ext cx="11602995" cy="10983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600" b="1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Typical Machine Learning Workflow (Applied)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656CC7-36ED-6953-81B2-952CA64D5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412216"/>
              </p:ext>
            </p:extLst>
          </p:nvPr>
        </p:nvGraphicFramePr>
        <p:xfrm>
          <a:off x="838200" y="1283156"/>
          <a:ext cx="10840656" cy="5477270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818200">
                  <a:extLst>
                    <a:ext uri="{9D8B030D-6E8A-4147-A177-3AD203B41FA5}">
                      <a16:colId xmlns:a16="http://schemas.microsoft.com/office/drawing/2014/main" val="3408985618"/>
                    </a:ext>
                  </a:extLst>
                </a:gridCol>
                <a:gridCol w="4408904">
                  <a:extLst>
                    <a:ext uri="{9D8B030D-6E8A-4147-A177-3AD203B41FA5}">
                      <a16:colId xmlns:a16="http://schemas.microsoft.com/office/drawing/2014/main" val="2492810899"/>
                    </a:ext>
                  </a:extLst>
                </a:gridCol>
                <a:gridCol w="3613552">
                  <a:extLst>
                    <a:ext uri="{9D8B030D-6E8A-4147-A177-3AD203B41FA5}">
                      <a16:colId xmlns:a16="http://schemas.microsoft.com/office/drawing/2014/main" val="1497209635"/>
                    </a:ext>
                  </a:extLst>
                </a:gridCol>
              </a:tblGrid>
              <a:tr h="481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Step</a:t>
                      </a:r>
                    </a:p>
                  </a:txBody>
                  <a:tcPr marL="103369" marR="66383" marT="79515" marB="795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103369" marR="66383" marT="79515" marB="795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Example in Python</a:t>
                      </a:r>
                    </a:p>
                  </a:txBody>
                  <a:tcPr marL="103369" marR="66383" marT="79515" marB="795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855769"/>
                  </a:ext>
                </a:extLst>
              </a:tr>
              <a:tr h="481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cap="none" spc="0">
                          <a:solidFill>
                            <a:schemeClr val="tx1"/>
                          </a:solidFill>
                        </a:rPr>
                        <a:t>1. Data Collection</a:t>
                      </a:r>
                      <a:endParaRPr lang="en-IN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3369" marR="66383" marT="79515" marB="795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Load data from CSV, SQL, API, or cloud</a:t>
                      </a:r>
                    </a:p>
                  </a:txBody>
                  <a:tcPr marL="103369" marR="66383" marT="79515" marB="795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pd.read_csv("sales.csv")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3369" marR="66383" marT="79515" marB="795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261846"/>
                  </a:ext>
                </a:extLst>
              </a:tr>
              <a:tr h="481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cap="none" spc="0">
                          <a:solidFill>
                            <a:schemeClr val="tx1"/>
                          </a:solidFill>
                        </a:rPr>
                        <a:t>2. Data Cleaning</a:t>
                      </a:r>
                      <a:endParaRPr lang="en-IN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3369" marR="66383" marT="79515" marB="795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Handle missing values, outliers, scaling</a:t>
                      </a:r>
                    </a:p>
                  </a:txBody>
                  <a:tcPr marL="103369" marR="66383" marT="79515" marB="795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df.fillna(0)</a:t>
                      </a:r>
                      <a:endParaRPr lang="en-IN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3369" marR="66383" marT="79515" marB="795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083159"/>
                  </a:ext>
                </a:extLst>
              </a:tr>
              <a:tr h="481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cap="none" spc="0">
                          <a:solidFill>
                            <a:schemeClr val="tx1"/>
                          </a:solidFill>
                        </a:rPr>
                        <a:t>3. Feature Engineering</a:t>
                      </a:r>
                      <a:endParaRPr lang="en-IN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3369" marR="66383" marT="79515" marB="795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Convert raw data into model-friendly inputs</a:t>
                      </a:r>
                    </a:p>
                  </a:txBody>
                  <a:tcPr marL="103369" marR="66383" marT="79515" marB="795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pd.get_dummies(df)</a:t>
                      </a:r>
                      <a:endParaRPr lang="en-IN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3369" marR="66383" marT="79515" marB="795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840180"/>
                  </a:ext>
                </a:extLst>
              </a:tr>
              <a:tr h="7193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cap="none" spc="0">
                          <a:solidFill>
                            <a:schemeClr val="tx1"/>
                          </a:solidFill>
                        </a:rPr>
                        <a:t>4. Model Selection</a:t>
                      </a:r>
                      <a:endParaRPr lang="en-IN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3369" marR="66383" marT="79515" marB="795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Choose algorithm (Regression, Decision Tree, etc.)</a:t>
                      </a:r>
                    </a:p>
                  </a:txBody>
                  <a:tcPr marL="103369" marR="66383" marT="79515" marB="795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LinearRegression()</a:t>
                      </a:r>
                      <a:endParaRPr lang="en-IN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3369" marR="66383" marT="79515" marB="795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223671"/>
                  </a:ext>
                </a:extLst>
              </a:tr>
              <a:tr h="481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cap="none" spc="0">
                          <a:solidFill>
                            <a:schemeClr val="tx1"/>
                          </a:solidFill>
                        </a:rPr>
                        <a:t>5. Training</a:t>
                      </a:r>
                      <a:endParaRPr lang="en-IN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3369" marR="66383" marT="79515" marB="795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Fit model on training data</a:t>
                      </a:r>
                    </a:p>
                  </a:txBody>
                  <a:tcPr marL="103369" marR="66383" marT="79515" marB="795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model.fit(X_train, y_train)</a:t>
                      </a:r>
                      <a:endParaRPr lang="fr-FR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3369" marR="66383" marT="79515" marB="795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066043"/>
                  </a:ext>
                </a:extLst>
              </a:tr>
              <a:tr h="481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cap="none" spc="0">
                          <a:solidFill>
                            <a:schemeClr val="tx1"/>
                          </a:solidFill>
                        </a:rPr>
                        <a:t>6. Evaluation</a:t>
                      </a:r>
                      <a:endParaRPr lang="en-IN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3369" marR="66383" marT="79515" marB="795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Check accuracy, precision, recall, R², etc.</a:t>
                      </a:r>
                    </a:p>
                  </a:txBody>
                  <a:tcPr marL="103369" marR="66383" marT="79515" marB="795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model.score(X_test, y_test)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3369" marR="66383" marT="79515" marB="795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679465"/>
                  </a:ext>
                </a:extLst>
              </a:tr>
              <a:tr h="481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cap="none" spc="0">
                          <a:solidFill>
                            <a:schemeClr val="tx1"/>
                          </a:solidFill>
                        </a:rPr>
                        <a:t>7. Prediction</a:t>
                      </a:r>
                      <a:endParaRPr lang="en-IN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3369" marR="66383" marT="79515" marB="795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Predict on unseen data</a:t>
                      </a:r>
                    </a:p>
                  </a:txBody>
                  <a:tcPr marL="103369" marR="66383" marT="79515" marB="795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model.predict(X_new)</a:t>
                      </a:r>
                      <a:endParaRPr lang="en-IN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3369" marR="66383" marT="79515" marB="795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534758"/>
                  </a:ext>
                </a:extLst>
              </a:tr>
              <a:tr h="481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cap="none" spc="0">
                          <a:solidFill>
                            <a:schemeClr val="tx1"/>
                          </a:solidFill>
                        </a:rPr>
                        <a:t>8. Deployment</a:t>
                      </a:r>
                      <a:endParaRPr lang="en-IN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3369" marR="66383" marT="79515" marB="795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Save &amp; use model in production</a:t>
                      </a:r>
                    </a:p>
                  </a:txBody>
                  <a:tcPr marL="103369" marR="66383" marT="79515" marB="795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joblib.dump</a:t>
                      </a:r>
                      <a:r>
                        <a:rPr lang="en-IN" sz="18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(model, "</a:t>
                      </a:r>
                      <a:r>
                        <a:rPr lang="en-IN" sz="1800" cap="none" spc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model.pkl</a:t>
                      </a:r>
                      <a:r>
                        <a:rPr lang="en-IN" sz="18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")</a:t>
                      </a:r>
                      <a:endParaRPr lang="en-IN" sz="1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3369" marR="66383" marT="79515" marB="795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303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51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64973AC-3F1F-D692-6BB5-ED2DB1B70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84805"/>
            <a:ext cx="10515600" cy="15058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52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Core Algorithms You’ll Learn &amp; Apply</a:t>
            </a: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52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B92029-BC10-A30C-32A1-A7C9DAA37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81812"/>
              </p:ext>
            </p:extLst>
          </p:nvPr>
        </p:nvGraphicFramePr>
        <p:xfrm>
          <a:off x="1140494" y="1845426"/>
          <a:ext cx="9907960" cy="445030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10210">
                  <a:extLst>
                    <a:ext uri="{9D8B030D-6E8A-4147-A177-3AD203B41FA5}">
                      <a16:colId xmlns:a16="http://schemas.microsoft.com/office/drawing/2014/main" val="3478848521"/>
                    </a:ext>
                  </a:extLst>
                </a:gridCol>
                <a:gridCol w="3493356">
                  <a:extLst>
                    <a:ext uri="{9D8B030D-6E8A-4147-A177-3AD203B41FA5}">
                      <a16:colId xmlns:a16="http://schemas.microsoft.com/office/drawing/2014/main" val="2354986310"/>
                    </a:ext>
                  </a:extLst>
                </a:gridCol>
                <a:gridCol w="3504394">
                  <a:extLst>
                    <a:ext uri="{9D8B030D-6E8A-4147-A177-3AD203B41FA5}">
                      <a16:colId xmlns:a16="http://schemas.microsoft.com/office/drawing/2014/main" val="804696466"/>
                    </a:ext>
                  </a:extLst>
                </a:gridCol>
              </a:tblGrid>
              <a:tr h="519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Category</a:t>
                      </a:r>
                    </a:p>
                  </a:txBody>
                  <a:tcPr marL="211919" marR="105960" marT="105960" marB="105960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Algorithm</a:t>
                      </a:r>
                    </a:p>
                  </a:txBody>
                  <a:tcPr marL="211919" marR="105960" marT="105960" marB="105960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Python Implementation</a:t>
                      </a:r>
                    </a:p>
                  </a:txBody>
                  <a:tcPr marL="211919" marR="105960" marT="105960" marB="105960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759693"/>
                  </a:ext>
                </a:extLst>
              </a:tr>
              <a:tr h="1049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Supervised Learning</a:t>
                      </a:r>
                      <a:endParaRPr lang="en-IN" sz="17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11919" marR="105960" marT="105960" marB="105960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Linear Regression, Logistic Regression, Decision Trees, Random Forests, SVM</a:t>
                      </a:r>
                    </a:p>
                  </a:txBody>
                  <a:tcPr marL="211919" marR="105960" marT="105960" marB="105960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urier New" panose="02070309020205020404" pitchFamily="49" charset="0"/>
                        </a:rPr>
                        <a:t>from sklearn.linear_model import LinearRegression</a:t>
                      </a:r>
                      <a:endParaRPr lang="en-US" sz="17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11919" marR="105960" marT="105960" marB="105960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465613"/>
                  </a:ext>
                </a:extLst>
              </a:tr>
              <a:tr h="7841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Unsupervised Learning</a:t>
                      </a:r>
                      <a:endParaRPr lang="en-IN" sz="17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11919" marR="105960" marT="105960" marB="105960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K-Means, PCA (Dimensionality Reduction)</a:t>
                      </a:r>
                    </a:p>
                  </a:txBody>
                  <a:tcPr marL="211919" marR="105960" marT="105960" marB="105960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urier New" panose="02070309020205020404" pitchFamily="49" charset="0"/>
                        </a:rPr>
                        <a:t>from sklearn.cluster import KMeans</a:t>
                      </a:r>
                      <a:endParaRPr lang="en-US" sz="17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11919" marR="105960" marT="105960" marB="105960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294044"/>
                  </a:ext>
                </a:extLst>
              </a:tr>
              <a:tr h="1049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Ensemble Learning</a:t>
                      </a:r>
                      <a:endParaRPr lang="en-IN" sz="17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11919" marR="105960" marT="105960" marB="105960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Random Forest, Gradient Boosting, XGBoost</a:t>
                      </a:r>
                    </a:p>
                  </a:txBody>
                  <a:tcPr marL="211919" marR="105960" marT="105960" marB="105960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urier New" panose="02070309020205020404" pitchFamily="49" charset="0"/>
                        </a:rPr>
                        <a:t>from sklearn.ensemble import RandomForestClassifier</a:t>
                      </a:r>
                      <a:endParaRPr lang="en-IN" sz="17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11919" marR="105960" marT="105960" marB="105960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426203"/>
                  </a:ext>
                </a:extLst>
              </a:tr>
              <a:tr h="1049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Model Evaluation</a:t>
                      </a:r>
                      <a:endParaRPr lang="en-IN" sz="17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11919" marR="105960" marT="105960" marB="105960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Confusion Matrix, ROC Curve, Cross Validation</a:t>
                      </a:r>
                    </a:p>
                  </a:txBody>
                  <a:tcPr marL="211919" marR="105960" marT="105960" marB="105960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ourier New" panose="02070309020205020404" pitchFamily="49" charset="0"/>
                        </a:rPr>
                        <a:t>from sklearn.metrics import classification_report</a:t>
                      </a:r>
                      <a:endParaRPr lang="en-IN" sz="17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11919" marR="105960" marT="105960" marB="105960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97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3141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4417FB7-1EC9-4EA9-251D-A7F7E0A69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84805"/>
            <a:ext cx="10515600" cy="15058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52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Libraries Commonly Used</a:t>
            </a: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52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0F8964D-374C-DBAC-02A2-E47A9EEA0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685750"/>
              </p:ext>
            </p:extLst>
          </p:nvPr>
        </p:nvGraphicFramePr>
        <p:xfrm>
          <a:off x="890814" y="1845426"/>
          <a:ext cx="10407320" cy="4450306"/>
        </p:xfrm>
        <a:graphic>
          <a:graphicData uri="http://schemas.openxmlformats.org/drawingml/2006/table">
            <a:tbl>
              <a:tblPr/>
              <a:tblGrid>
                <a:gridCol w="3929335">
                  <a:extLst>
                    <a:ext uri="{9D8B030D-6E8A-4147-A177-3AD203B41FA5}">
                      <a16:colId xmlns:a16="http://schemas.microsoft.com/office/drawing/2014/main" val="1809370659"/>
                    </a:ext>
                  </a:extLst>
                </a:gridCol>
                <a:gridCol w="6477985">
                  <a:extLst>
                    <a:ext uri="{9D8B030D-6E8A-4147-A177-3AD203B41FA5}">
                      <a16:colId xmlns:a16="http://schemas.microsoft.com/office/drawing/2014/main" val="3275290949"/>
                    </a:ext>
                  </a:extLst>
                </a:gridCol>
              </a:tblGrid>
              <a:tr h="6357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0" i="0" u="none" strike="noStrike">
                          <a:effectLst/>
                          <a:latin typeface="Arial" panose="020B0604020202020204" pitchFamily="34" charset="0"/>
                        </a:rPr>
                        <a:t>Library</a:t>
                      </a:r>
                    </a:p>
                  </a:txBody>
                  <a:tcPr marL="144490" marR="144490" marT="72245" marB="72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0" i="0" u="none" strike="noStrike">
                          <a:effectLst/>
                          <a:latin typeface="Arial" panose="020B0604020202020204" pitchFamily="34" charset="0"/>
                        </a:rPr>
                        <a:t>Purpose</a:t>
                      </a:r>
                    </a:p>
                  </a:txBody>
                  <a:tcPr marL="144490" marR="144490" marT="72245" marB="72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31429"/>
                  </a:ext>
                </a:extLst>
              </a:tr>
              <a:tr h="6357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1" i="0" u="none" strike="noStrike">
                          <a:effectLst/>
                          <a:latin typeface="Arial" panose="020B0604020202020204" pitchFamily="34" charset="0"/>
                        </a:rPr>
                        <a:t>pandas</a:t>
                      </a:r>
                      <a:endParaRPr lang="en-IN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490" marR="144490" marT="72245" marB="72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0" i="0" u="none" strike="noStrike">
                          <a:effectLst/>
                          <a:latin typeface="Arial" panose="020B0604020202020204" pitchFamily="34" charset="0"/>
                        </a:rPr>
                        <a:t>Data manipulation and preprocessing</a:t>
                      </a:r>
                    </a:p>
                  </a:txBody>
                  <a:tcPr marL="144490" marR="144490" marT="72245" marB="72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020293"/>
                  </a:ext>
                </a:extLst>
              </a:tr>
              <a:tr h="6357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1" i="0" u="none" strike="noStrike">
                          <a:effectLst/>
                          <a:latin typeface="Arial" panose="020B0604020202020204" pitchFamily="34" charset="0"/>
                        </a:rPr>
                        <a:t>numpy</a:t>
                      </a:r>
                      <a:endParaRPr lang="en-IN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490" marR="144490" marT="72245" marB="72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0" i="0" u="none" strike="noStrike">
                          <a:effectLst/>
                          <a:latin typeface="Arial" panose="020B0604020202020204" pitchFamily="34" charset="0"/>
                        </a:rPr>
                        <a:t>Numerical computing and arrays</a:t>
                      </a:r>
                    </a:p>
                  </a:txBody>
                  <a:tcPr marL="144490" marR="144490" marT="72245" marB="72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012573"/>
                  </a:ext>
                </a:extLst>
              </a:tr>
              <a:tr h="6357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1" i="0" u="none" strike="noStrike">
                          <a:effectLst/>
                          <a:latin typeface="Arial" panose="020B0604020202020204" pitchFamily="34" charset="0"/>
                        </a:rPr>
                        <a:t>matplotlib / seaborn</a:t>
                      </a:r>
                      <a:endParaRPr lang="en-IN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490" marR="144490" marT="72245" marB="72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0" i="0" u="none" strike="noStrike">
                          <a:effectLst/>
                          <a:latin typeface="Arial" panose="020B0604020202020204" pitchFamily="34" charset="0"/>
                        </a:rPr>
                        <a:t>Visualization</a:t>
                      </a:r>
                    </a:p>
                  </a:txBody>
                  <a:tcPr marL="144490" marR="144490" marT="72245" marB="72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432036"/>
                  </a:ext>
                </a:extLst>
              </a:tr>
              <a:tr h="6357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1" i="0" u="none" strike="noStrike">
                          <a:effectLst/>
                          <a:latin typeface="Arial" panose="020B0604020202020204" pitchFamily="34" charset="0"/>
                        </a:rPr>
                        <a:t>scikit-learn</a:t>
                      </a:r>
                      <a:endParaRPr lang="en-IN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490" marR="144490" marT="72245" marB="72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Core ML algorithms and pipelines</a:t>
                      </a:r>
                    </a:p>
                  </a:txBody>
                  <a:tcPr marL="144490" marR="144490" marT="72245" marB="72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4291066"/>
                  </a:ext>
                </a:extLst>
              </a:tr>
              <a:tr h="6357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1" i="0" u="none" strike="noStrike">
                          <a:effectLst/>
                          <a:latin typeface="Arial" panose="020B0604020202020204" pitchFamily="34" charset="0"/>
                        </a:rPr>
                        <a:t>statsmodels</a:t>
                      </a:r>
                      <a:endParaRPr lang="en-IN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490" marR="144490" marT="72245" marB="72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0" i="0" u="none" strike="noStrike">
                          <a:effectLst/>
                          <a:latin typeface="Arial" panose="020B0604020202020204" pitchFamily="34" charset="0"/>
                        </a:rPr>
                        <a:t>Statistical modeling</a:t>
                      </a:r>
                    </a:p>
                  </a:txBody>
                  <a:tcPr marL="144490" marR="144490" marT="72245" marB="72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6590145"/>
                  </a:ext>
                </a:extLst>
              </a:tr>
              <a:tr h="6357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1" i="0" u="none" strike="noStrike">
                          <a:effectLst/>
                          <a:latin typeface="Arial" panose="020B0604020202020204" pitchFamily="34" charset="0"/>
                        </a:rPr>
                        <a:t>joblib / pickle</a:t>
                      </a:r>
                      <a:endParaRPr lang="en-IN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490" marR="144490" marT="72245" marB="72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800" b="0" i="0" u="none" strike="noStrike">
                          <a:effectLst/>
                          <a:latin typeface="Arial" panose="020B0604020202020204" pitchFamily="34" charset="0"/>
                        </a:rPr>
                        <a:t>Model saving/loading</a:t>
                      </a:r>
                    </a:p>
                  </a:txBody>
                  <a:tcPr marL="144490" marR="144490" marT="72245" marB="722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332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1111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5CAAE8-87D5-FB5B-A7D1-EC2FBD05E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79148"/>
              </p:ext>
            </p:extLst>
          </p:nvPr>
        </p:nvGraphicFramePr>
        <p:xfrm>
          <a:off x="467809" y="1143505"/>
          <a:ext cx="11361516" cy="5212080"/>
        </p:xfrm>
        <a:graphic>
          <a:graphicData uri="http://schemas.openxmlformats.org/drawingml/2006/table">
            <a:tbl>
              <a:tblPr/>
              <a:tblGrid>
                <a:gridCol w="5680758">
                  <a:extLst>
                    <a:ext uri="{9D8B030D-6E8A-4147-A177-3AD203B41FA5}">
                      <a16:colId xmlns:a16="http://schemas.microsoft.com/office/drawing/2014/main" val="468154538"/>
                    </a:ext>
                  </a:extLst>
                </a:gridCol>
                <a:gridCol w="5680758">
                  <a:extLst>
                    <a:ext uri="{9D8B030D-6E8A-4147-A177-3AD203B41FA5}">
                      <a16:colId xmlns:a16="http://schemas.microsoft.com/office/drawing/2014/main" val="829360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Module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Topics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62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Module 1: ML Foundations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Supervised vs Unsupervised, Bias-Variance, Overfitting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945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Module 2: Data Preprocessing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Cleaning, Encoding, Normalization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460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Module 3: Regression Models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Linear, Polynomial, Ridge, Lasso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770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Module 4: Classification Models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Logistic, KNN, SVM, Decision Tree, 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461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Module 5: Clustering &amp; Dimensionality Reduction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K-Means, PCA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7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Module 6: Model Evaluation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Accuracy, ROC, Cross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863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Module 7: Model Deployment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Save/Load models, Streamlit dashboards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946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Capstone Project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Real dataset (finance, HR, sales, IoT, etc.)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6950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DA280F31-73A1-AEAD-091D-90152EB93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10" y="293661"/>
            <a:ext cx="736676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Typical Course or Training Modules (Applied ML in Python)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974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508D646-DE03-1484-ECD9-7E52C8337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461175"/>
              </p:ext>
            </p:extLst>
          </p:nvPr>
        </p:nvGraphicFramePr>
        <p:xfrm>
          <a:off x="643467" y="1138824"/>
          <a:ext cx="10905068" cy="4580358"/>
        </p:xfrm>
        <a:graphic>
          <a:graphicData uri="http://schemas.openxmlformats.org/drawingml/2006/table">
            <a:tbl>
              <a:tblPr/>
              <a:tblGrid>
                <a:gridCol w="3328806">
                  <a:extLst>
                    <a:ext uri="{9D8B030D-6E8A-4147-A177-3AD203B41FA5}">
                      <a16:colId xmlns:a16="http://schemas.microsoft.com/office/drawing/2014/main" val="3291734337"/>
                    </a:ext>
                  </a:extLst>
                </a:gridCol>
                <a:gridCol w="3856246">
                  <a:extLst>
                    <a:ext uri="{9D8B030D-6E8A-4147-A177-3AD203B41FA5}">
                      <a16:colId xmlns:a16="http://schemas.microsoft.com/office/drawing/2014/main" val="698392933"/>
                    </a:ext>
                  </a:extLst>
                </a:gridCol>
                <a:gridCol w="3720016">
                  <a:extLst>
                    <a:ext uri="{9D8B030D-6E8A-4147-A177-3AD203B41FA5}">
                      <a16:colId xmlns:a16="http://schemas.microsoft.com/office/drawing/2014/main" val="2459136849"/>
                    </a:ext>
                  </a:extLst>
                </a:gridCol>
              </a:tblGrid>
              <a:tr h="4014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Arial" panose="020B0604020202020204" pitchFamily="34" charset="0"/>
                        </a:rPr>
                        <a:t>Feature</a:t>
                      </a: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effectLst/>
                          <a:latin typeface="Arial" panose="020B0604020202020204" pitchFamily="34" charset="0"/>
                        </a:rPr>
                        <a:t>Jupyter Notebook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effectLst/>
                          <a:latin typeface="Arial" panose="020B0604020202020204" pitchFamily="34" charset="0"/>
                        </a:rPr>
                        <a:t>JupyterLab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373699"/>
                  </a:ext>
                </a:extLst>
              </a:tr>
              <a:tr h="6751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effectLst/>
                          <a:latin typeface="Arial" panose="020B0604020202020204" pitchFamily="34" charset="0"/>
                        </a:rPr>
                        <a:t>Interface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Arial" panose="020B0604020202020204" pitchFamily="34" charset="0"/>
                        </a:rPr>
                        <a:t>Classic, simple, single-page view</a:t>
                      </a: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Modern IDE-style with tabs, panels, file browser</a:t>
                      </a: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840579"/>
                  </a:ext>
                </a:extLst>
              </a:tr>
              <a:tr h="4014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effectLst/>
                          <a:latin typeface="Arial" panose="020B0604020202020204" pitchFamily="34" charset="0"/>
                        </a:rPr>
                        <a:t>URL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Courier New" panose="02070309020205020404" pitchFamily="49" charset="0"/>
                        </a:rPr>
                        <a:t>http://localhost:8888/tree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Courier New" panose="02070309020205020404" pitchFamily="49" charset="0"/>
                        </a:rPr>
                        <a:t>http://localhost:8888/lab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111028"/>
                  </a:ext>
                </a:extLst>
              </a:tr>
              <a:tr h="6751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effectLst/>
                          <a:latin typeface="Arial" panose="020B0604020202020204" pitchFamily="34" charset="0"/>
                        </a:rPr>
                        <a:t>Files view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One file at a time</a:t>
                      </a: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Multiple notebooks, terminals, text files in tabs</a:t>
                      </a: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8679750"/>
                  </a:ext>
                </a:extLst>
              </a:tr>
              <a:tr h="6751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effectLst/>
                          <a:latin typeface="Arial" panose="020B0604020202020204" pitchFamily="34" charset="0"/>
                        </a:rPr>
                        <a:t>Best for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Beginners, focused single notebook work</a:t>
                      </a: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Arial" panose="020B0604020202020204" pitchFamily="34" charset="0"/>
                        </a:rPr>
                        <a:t>Advanced users, multi-file projects</a:t>
                      </a: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925814"/>
                  </a:ext>
                </a:extLst>
              </a:tr>
              <a:tr h="6751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effectLst/>
                          <a:latin typeface="Arial" panose="020B0604020202020204" pitchFamily="34" charset="0"/>
                        </a:rPr>
                        <a:t>Extensibility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Arial" panose="020B0604020202020204" pitchFamily="34" charset="0"/>
                        </a:rPr>
                        <a:t>Limited</a:t>
                      </a: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Highly extensible (Git, TensorBoard, VSCode-like)</a:t>
                      </a: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290906"/>
                  </a:ext>
                </a:extLst>
              </a:tr>
              <a:tr h="4014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effectLst/>
                          <a:latin typeface="Arial" panose="020B0604020202020204" pitchFamily="34" charset="0"/>
                        </a:rPr>
                        <a:t>Performance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Arial" panose="020B0604020202020204" pitchFamily="34" charset="0"/>
                        </a:rPr>
                        <a:t>Lightweight</a:t>
                      </a: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Slightly heavier but more capable</a:t>
                      </a: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503600"/>
                  </a:ext>
                </a:extLst>
              </a:tr>
              <a:tr h="6751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effectLst/>
                          <a:latin typeface="Arial" panose="020B0604020202020204" pitchFamily="34" charset="0"/>
                        </a:rPr>
                        <a:t>Integrated Console / Terminal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Yes — built-in terminal, markdown, data viewer</a:t>
                      </a:r>
                    </a:p>
                  </a:txBody>
                  <a:tcPr marL="91242" marR="91242" marT="45621" marB="456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326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113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015F4A-8F37-7501-240B-3FF555E5C608}"/>
              </a:ext>
            </a:extLst>
          </p:cNvPr>
          <p:cNvSpPr/>
          <p:nvPr/>
        </p:nvSpPr>
        <p:spPr>
          <a:xfrm>
            <a:off x="3935392" y="1794076"/>
            <a:ext cx="4386805" cy="14352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highlight>
                  <a:srgbClr val="FFFF00"/>
                </a:highlight>
                <a:hlinkClick r:id="rId2" action="ppaction://hlinkpres?slideindex=1&amp;slidetitle="/>
              </a:rPr>
              <a:t>AI/ML Architecture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CFCB2C-0BD8-ACEB-0153-336F777A6F28}"/>
              </a:ext>
            </a:extLst>
          </p:cNvPr>
          <p:cNvSpPr/>
          <p:nvPr/>
        </p:nvSpPr>
        <p:spPr>
          <a:xfrm>
            <a:off x="4051139" y="3727048"/>
            <a:ext cx="4386805" cy="12037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Anaconda- </a:t>
            </a:r>
            <a:r>
              <a:rPr lang="en-US" dirty="0" err="1"/>
              <a:t>JupyterLab</a:t>
            </a:r>
            <a:r>
              <a:rPr lang="en-US" dirty="0"/>
              <a:t> or Notebook Practice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3349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A54C5B-8A43-B295-D67E-1D4C64E81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089" y="-43405"/>
            <a:ext cx="11157995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https://www.kaggle.com/datasets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https://datasetsearch.research.google.com/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https://www.data.gov/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https://data.gov.in/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https://data.europa.eu/en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7"/>
              </a:rPr>
              <a:t>https://registry.opendata.aws/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https://open.canada.ca/en/open-data/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8"/>
              </a:rPr>
              <a:t>https://data.gov.uk/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9"/>
              </a:rPr>
              <a:t>https://data.nasa.gov/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0"/>
              </a:rPr>
              <a:t>https://open.gsa.gov/data/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1"/>
              </a:rPr>
              <a:t>https://opendatainception.io/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2"/>
              </a:rPr>
              <a:t>https://dataportals.org/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https://www.huggingface.co/datasets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3"/>
              </a:rPr>
              <a:t>https://www.worldbank.org/en/data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4"/>
              </a:rPr>
              <a:t>https://data.worldbank.org/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5"/>
              </a:rPr>
              <a:t>https://www.zenodo.org/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https://data.openaccess.cambridge.org/ (Cambridge)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https://www.science.gc.ca/site/science/en/open-science/datasets-and-portals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https://opendata.ox.ac.uk/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https://data.okfn.org/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https://data.overheid.nl/en/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https://data.go.jp/en/index.html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6"/>
              </a:rPr>
              <a:t>https://data.gov.sa/en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7"/>
              </a:rPr>
              <a:t>https://data.gov.ph/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8"/>
              </a:rPr>
              <a:t>https://github.com/awesomedata/awesome-public-datasets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884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CE0A68D-28EF-49D9-B84B-5DAB38714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A0C3DC-24DE-44E3-9D41-CAA5F3B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EC1D072-BA42-1183-5D95-1E032DBAF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4015" y="818707"/>
            <a:ext cx="4321214" cy="53109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595959"/>
                </a:solidFill>
                <a:effectLst/>
              </a:rPr>
              <a:t>Phase-1 Project (Current One): Predictive Model — 8-Step AI/ML Pipeline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95959"/>
                </a:solidFill>
                <a:effectLst/>
              </a:rPr>
              <a:t>🎯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595959"/>
                </a:solidFill>
                <a:effectLst/>
              </a:rPr>
              <a:t>Objective: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95959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95959"/>
                </a:solidFill>
                <a:effectLst/>
              </a:rPr>
              <a:t>Use the uploaded HR-Employee-Attrition dataset to build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595959"/>
                </a:solidFill>
                <a:effectLst/>
              </a:rPr>
              <a:t>Predictive AI/ML model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95959"/>
                </a:solidFill>
                <a:effectLst/>
              </a:rPr>
              <a:t> that classifies whether an employee will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595959"/>
                </a:solidFill>
                <a:effectLst/>
              </a:rPr>
              <a:t>attrite (Yes/No)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95959"/>
                </a:solidFill>
                <a:effectLst/>
              </a:rPr>
              <a:t>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95959"/>
                </a:solidFill>
                <a:effectLst/>
              </a:rPr>
              <a:t>This project will strictly follow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595959"/>
                </a:solidFill>
                <a:effectLst/>
              </a:rPr>
              <a:t>8-step practical ML workflow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95959"/>
                </a:solidFill>
                <a:effectLst/>
              </a:rPr>
              <a:t> we already discussed: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595959"/>
              </a:solidFill>
              <a:effectLst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12B8352-D057-9D9B-0DDB-1062EF654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703258"/>
              </p:ext>
            </p:extLst>
          </p:nvPr>
        </p:nvGraphicFramePr>
        <p:xfrm>
          <a:off x="216756" y="297341"/>
          <a:ext cx="7002682" cy="5600724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1023574">
                  <a:extLst>
                    <a:ext uri="{9D8B030D-6E8A-4147-A177-3AD203B41FA5}">
                      <a16:colId xmlns:a16="http://schemas.microsoft.com/office/drawing/2014/main" val="1442683202"/>
                    </a:ext>
                  </a:extLst>
                </a:gridCol>
                <a:gridCol w="2417270">
                  <a:extLst>
                    <a:ext uri="{9D8B030D-6E8A-4147-A177-3AD203B41FA5}">
                      <a16:colId xmlns:a16="http://schemas.microsoft.com/office/drawing/2014/main" val="161203636"/>
                    </a:ext>
                  </a:extLst>
                </a:gridCol>
                <a:gridCol w="3561838">
                  <a:extLst>
                    <a:ext uri="{9D8B030D-6E8A-4147-A177-3AD203B41FA5}">
                      <a16:colId xmlns:a16="http://schemas.microsoft.com/office/drawing/2014/main" val="901421027"/>
                    </a:ext>
                  </a:extLst>
                </a:gridCol>
              </a:tblGrid>
              <a:tr h="475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Step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Phase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632782"/>
                  </a:ext>
                </a:extLst>
              </a:tr>
              <a:tr h="475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1️⃣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Problem Definition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Define target variable and objective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039908"/>
                  </a:ext>
                </a:extLst>
              </a:tr>
              <a:tr h="475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2️⃣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Data Understanding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Load and inspect the HR dataset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775391"/>
                  </a:ext>
                </a:extLst>
              </a:tr>
              <a:tr h="709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3️⃣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 dirty="0">
                          <a:solidFill>
                            <a:schemeClr val="tx1"/>
                          </a:solidFill>
                        </a:rPr>
                        <a:t>Data Cleaning &amp; Preprocessing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Handle missing values, encode categorical, scale features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448921"/>
                  </a:ext>
                </a:extLst>
              </a:tr>
              <a:tr h="709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4️⃣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EDA (optional visuals)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Quick overview — correlations and distributions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723418"/>
                  </a:ext>
                </a:extLst>
              </a:tr>
              <a:tr h="475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5️⃣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Model Training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Train multiple classification models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330637"/>
                  </a:ext>
                </a:extLst>
              </a:tr>
              <a:tr h="709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6️⃣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Model Evaluation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Accuracy, Precision, Recall, F1, ROC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727791"/>
                  </a:ext>
                </a:extLst>
              </a:tr>
              <a:tr h="475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7️⃣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Model Saving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Persist with </a:t>
                      </a:r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joblib</a:t>
                      </a:r>
                      <a:endParaRPr lang="en-IN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273674"/>
                  </a:ext>
                </a:extLst>
              </a:tr>
              <a:tr h="709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8️⃣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Dashboard / Prediction App (optional)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 dirty="0" err="1">
                          <a:solidFill>
                            <a:schemeClr val="tx1"/>
                          </a:solidFill>
                        </a:rPr>
                        <a:t>Streamlit</a:t>
                      </a:r>
                      <a:r>
                        <a:rPr lang="en-IN" sz="1800" cap="none" spc="0" dirty="0"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en-IN" sz="1800" cap="none" spc="0" dirty="0" err="1">
                          <a:solidFill>
                            <a:schemeClr val="tx1"/>
                          </a:solidFill>
                        </a:rPr>
                        <a:t>FastAPI</a:t>
                      </a:r>
                      <a:r>
                        <a:rPr lang="en-IN" sz="1800" cap="none" spc="0" dirty="0">
                          <a:solidFill>
                            <a:schemeClr val="tx1"/>
                          </a:solidFill>
                        </a:rPr>
                        <a:t> demo interface</a:t>
                      </a:r>
                    </a:p>
                  </a:txBody>
                  <a:tcPr marL="78360" marR="53118" marT="60277" marB="6027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975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6833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3C8CE99-272B-58A7-D7ED-F5597106F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351" y="1843238"/>
            <a:ext cx="3197330" cy="287381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600" b="1" i="0" u="none" strike="noStrike" kern="1200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Understanding the Four Analytics Types</a:t>
            </a:r>
          </a:p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600" b="0" i="0" u="none" strike="noStrike" kern="1200" cap="none" normalizeH="0" baseline="0">
              <a:ln>
                <a:noFill/>
              </a:ln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ED3635C-40B4-58D5-BFB2-06DB0CD22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374"/>
              </p:ext>
            </p:extLst>
          </p:nvPr>
        </p:nvGraphicFramePr>
        <p:xfrm>
          <a:off x="3606325" y="709885"/>
          <a:ext cx="8350324" cy="5140523"/>
        </p:xfrm>
        <a:graphic>
          <a:graphicData uri="http://schemas.openxmlformats.org/drawingml/2006/table">
            <a:tbl>
              <a:tblPr/>
              <a:tblGrid>
                <a:gridCol w="2013076">
                  <a:extLst>
                    <a:ext uri="{9D8B030D-6E8A-4147-A177-3AD203B41FA5}">
                      <a16:colId xmlns:a16="http://schemas.microsoft.com/office/drawing/2014/main" val="1993498918"/>
                    </a:ext>
                  </a:extLst>
                </a:gridCol>
                <a:gridCol w="2035508">
                  <a:extLst>
                    <a:ext uri="{9D8B030D-6E8A-4147-A177-3AD203B41FA5}">
                      <a16:colId xmlns:a16="http://schemas.microsoft.com/office/drawing/2014/main" val="3639393232"/>
                    </a:ext>
                  </a:extLst>
                </a:gridCol>
                <a:gridCol w="2150870">
                  <a:extLst>
                    <a:ext uri="{9D8B030D-6E8A-4147-A177-3AD203B41FA5}">
                      <a16:colId xmlns:a16="http://schemas.microsoft.com/office/drawing/2014/main" val="1128742067"/>
                    </a:ext>
                  </a:extLst>
                </a:gridCol>
                <a:gridCol w="2150870">
                  <a:extLst>
                    <a:ext uri="{9D8B030D-6E8A-4147-A177-3AD203B41FA5}">
                      <a16:colId xmlns:a16="http://schemas.microsoft.com/office/drawing/2014/main" val="1531976893"/>
                    </a:ext>
                  </a:extLst>
                </a:gridCol>
              </a:tblGrid>
              <a:tr h="6236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effectLst/>
                          <a:latin typeface="Arial" panose="020B0604020202020204" pitchFamily="34" charset="0"/>
                        </a:rPr>
                        <a:t>Type</a:t>
                      </a:r>
                    </a:p>
                  </a:txBody>
                  <a:tcPr marL="79446" marR="79446" marT="39723" marB="39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effectLst/>
                          <a:latin typeface="Arial" panose="020B0604020202020204" pitchFamily="34" charset="0"/>
                        </a:rPr>
                        <a:t>Key Question It Answers</a:t>
                      </a:r>
                    </a:p>
                  </a:txBody>
                  <a:tcPr marL="79446" marR="79446" marT="39723" marB="39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effectLst/>
                          <a:latin typeface="Arial" panose="020B0604020202020204" pitchFamily="34" charset="0"/>
                        </a:rPr>
                        <a:t>Nature</a:t>
                      </a:r>
                    </a:p>
                  </a:txBody>
                  <a:tcPr marL="79446" marR="79446" marT="39723" marB="39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effectLst/>
                          <a:latin typeface="Arial" panose="020B0604020202020204" pitchFamily="34" charset="0"/>
                        </a:rPr>
                        <a:t>Example (HR Attrition)</a:t>
                      </a:r>
                    </a:p>
                  </a:txBody>
                  <a:tcPr marL="79446" marR="79446" marT="39723" marB="39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836033"/>
                  </a:ext>
                </a:extLst>
              </a:tr>
              <a:tr h="11292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i="0" u="none" strike="noStrike">
                          <a:effectLst/>
                          <a:latin typeface="Arial" panose="020B0604020202020204" pitchFamily="34" charset="0"/>
                        </a:rPr>
                        <a:t>1️⃣ Descriptive Analytics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446" marR="79446" marT="39723" marB="39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effectLst/>
                          <a:latin typeface="Arial" panose="020B0604020202020204" pitchFamily="34" charset="0"/>
                        </a:rPr>
                        <a:t>“What happened?”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446" marR="79446" marT="39723" marB="39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effectLst/>
                          <a:latin typeface="Arial" panose="020B0604020202020204" pitchFamily="34" charset="0"/>
                        </a:rPr>
                        <a:t>Retrospective</a:t>
                      </a:r>
                    </a:p>
                  </a:txBody>
                  <a:tcPr marL="79446" marR="79446" marT="39723" marB="39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% of employees left, average tenure, satisfaction level</a:t>
                      </a:r>
                    </a:p>
                  </a:txBody>
                  <a:tcPr marL="79446" marR="79446" marT="39723" marB="39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083672"/>
                  </a:ext>
                </a:extLst>
              </a:tr>
              <a:tr h="11292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i="0" u="none" strike="noStrike">
                          <a:effectLst/>
                          <a:latin typeface="Arial" panose="020B0604020202020204" pitchFamily="34" charset="0"/>
                        </a:rPr>
                        <a:t>2️⃣ Diagnostic Analytics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446" marR="79446" marT="39723" marB="39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effectLst/>
                          <a:latin typeface="Arial" panose="020B0604020202020204" pitchFamily="34" charset="0"/>
                        </a:rPr>
                        <a:t>“Why did it happen?”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446" marR="79446" marT="39723" marB="39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effectLst/>
                          <a:latin typeface="Arial" panose="020B0604020202020204" pitchFamily="34" charset="0"/>
                        </a:rPr>
                        <a:t>Investigative</a:t>
                      </a:r>
                    </a:p>
                  </a:txBody>
                  <a:tcPr marL="79446" marR="79446" marT="39723" marB="39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Attrition is higher among employees with overtime or low salary</a:t>
                      </a:r>
                    </a:p>
                  </a:txBody>
                  <a:tcPr marL="79446" marR="79446" marT="39723" marB="39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866847"/>
                  </a:ext>
                </a:extLst>
              </a:tr>
              <a:tr h="8764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i="0" u="none" strike="noStrike">
                          <a:effectLst/>
                          <a:latin typeface="Arial" panose="020B0604020202020204" pitchFamily="34" charset="0"/>
                        </a:rPr>
                        <a:t>3️⃣ Predictive Analytics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446" marR="79446" marT="39723" marB="39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1" u="none" strike="noStrike">
                          <a:effectLst/>
                          <a:latin typeface="Arial" panose="020B0604020202020204" pitchFamily="34" charset="0"/>
                        </a:rPr>
                        <a:t>“What will happen?”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446" marR="79446" marT="39723" marB="39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effectLst/>
                          <a:latin typeface="Arial" panose="020B0604020202020204" pitchFamily="34" charset="0"/>
                        </a:rPr>
                        <a:t>Machine Learning</a:t>
                      </a:r>
                    </a:p>
                  </a:txBody>
                  <a:tcPr marL="79446" marR="79446" marT="39723" marB="39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Model predicts who is likely to leave next</a:t>
                      </a:r>
                    </a:p>
                  </a:txBody>
                  <a:tcPr marL="79446" marR="79446" marT="39723" marB="39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980479"/>
                  </a:ext>
                </a:extLst>
              </a:tr>
              <a:tr h="13820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i="0" u="none" strike="noStrike">
                          <a:effectLst/>
                          <a:latin typeface="Arial" panose="020B0604020202020204" pitchFamily="34" charset="0"/>
                        </a:rPr>
                        <a:t>4️⃣ Prescriptive Analytics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446" marR="79446" marT="39723" marB="39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1" u="none" strike="noStrike">
                          <a:effectLst/>
                          <a:latin typeface="Arial" panose="020B0604020202020204" pitchFamily="34" charset="0"/>
                        </a:rPr>
                        <a:t>“What should we do about it?”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9446" marR="79446" marT="39723" marB="39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effectLst/>
                          <a:latin typeface="Arial" panose="020B0604020202020204" pitchFamily="34" charset="0"/>
                        </a:rPr>
                        <a:t>Actionable / Optimization</a:t>
                      </a:r>
                    </a:p>
                  </a:txBody>
                  <a:tcPr marL="79446" marR="79446" marT="39723" marB="39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Recommend retention actions (e.g., salary raise, workload reduction)</a:t>
                      </a:r>
                    </a:p>
                  </a:txBody>
                  <a:tcPr marL="79446" marR="79446" marT="39723" marB="397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73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580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5E15107-34DE-22E5-85E1-BD3F8D527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 fontScale="92500"/>
          </a:bodyPr>
          <a:lstStyle/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600" b="1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Model Analytics during Model Development</a:t>
            </a:r>
          </a:p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600" b="0" i="0" u="none" strike="noStrike" kern="1200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85EFB77-7A0F-45EE-1A22-1347D051E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757489"/>
              </p:ext>
            </p:extLst>
          </p:nvPr>
        </p:nvGraphicFramePr>
        <p:xfrm>
          <a:off x="4038600" y="1528321"/>
          <a:ext cx="7188201" cy="3797970"/>
        </p:xfrm>
        <a:graphic>
          <a:graphicData uri="http://schemas.openxmlformats.org/drawingml/2006/table">
            <a:tbl>
              <a:tblPr/>
              <a:tblGrid>
                <a:gridCol w="2021592">
                  <a:extLst>
                    <a:ext uri="{9D8B030D-6E8A-4147-A177-3AD203B41FA5}">
                      <a16:colId xmlns:a16="http://schemas.microsoft.com/office/drawing/2014/main" val="1946337732"/>
                    </a:ext>
                  </a:extLst>
                </a:gridCol>
                <a:gridCol w="1693690">
                  <a:extLst>
                    <a:ext uri="{9D8B030D-6E8A-4147-A177-3AD203B41FA5}">
                      <a16:colId xmlns:a16="http://schemas.microsoft.com/office/drawing/2014/main" val="1181597476"/>
                    </a:ext>
                  </a:extLst>
                </a:gridCol>
                <a:gridCol w="1665176">
                  <a:extLst>
                    <a:ext uri="{9D8B030D-6E8A-4147-A177-3AD203B41FA5}">
                      <a16:colId xmlns:a16="http://schemas.microsoft.com/office/drawing/2014/main" val="1261692516"/>
                    </a:ext>
                  </a:extLst>
                </a:gridCol>
                <a:gridCol w="1807743">
                  <a:extLst>
                    <a:ext uri="{9D8B030D-6E8A-4147-A177-3AD203B41FA5}">
                      <a16:colId xmlns:a16="http://schemas.microsoft.com/office/drawing/2014/main" val="748674060"/>
                    </a:ext>
                  </a:extLst>
                </a:gridCol>
              </a:tblGrid>
              <a:tr h="759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Phase</a:t>
                      </a:r>
                    </a:p>
                  </a:txBody>
                  <a:tcPr marL="102648" marR="102648" marT="51324" marB="513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Analytics Type</a:t>
                      </a:r>
                    </a:p>
                  </a:txBody>
                  <a:tcPr marL="102648" marR="102648" marT="51324" marB="513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Timing</a:t>
                      </a:r>
                    </a:p>
                  </a:txBody>
                  <a:tcPr marL="102648" marR="102648" marT="51324" marB="513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Purpose</a:t>
                      </a:r>
                    </a:p>
                  </a:txBody>
                  <a:tcPr marL="102648" marR="102648" marT="51324" marB="513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866623"/>
                  </a:ext>
                </a:extLst>
              </a:tr>
              <a:tr h="759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 Understanding</a:t>
                      </a:r>
                    </a:p>
                  </a:txBody>
                  <a:tcPr marL="102648" marR="102648" marT="51324" marB="513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Descriptive</a:t>
                      </a:r>
                    </a:p>
                  </a:txBody>
                  <a:tcPr marL="102648" marR="102648" marT="51324" marB="513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Before Model</a:t>
                      </a:r>
                    </a:p>
                  </a:txBody>
                  <a:tcPr marL="102648" marR="102648" marT="51324" marB="513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Summarize what’s in data</a:t>
                      </a:r>
                    </a:p>
                  </a:txBody>
                  <a:tcPr marL="102648" marR="102648" marT="51324" marB="513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682943"/>
                  </a:ext>
                </a:extLst>
              </a:tr>
              <a:tr h="759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 Diagnostics</a:t>
                      </a:r>
                    </a:p>
                  </a:txBody>
                  <a:tcPr marL="102648" marR="102648" marT="51324" marB="513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Diagnostic</a:t>
                      </a:r>
                    </a:p>
                  </a:txBody>
                  <a:tcPr marL="102648" marR="102648" marT="51324" marB="513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Before Model</a:t>
                      </a:r>
                    </a:p>
                  </a:txBody>
                  <a:tcPr marL="102648" marR="102648" marT="51324" marB="513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Understand causes</a:t>
                      </a:r>
                    </a:p>
                  </a:txBody>
                  <a:tcPr marL="102648" marR="102648" marT="51324" marB="513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859309"/>
                  </a:ext>
                </a:extLst>
              </a:tr>
              <a:tr h="759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Model Training</a:t>
                      </a:r>
                    </a:p>
                  </a:txBody>
                  <a:tcPr marL="102648" marR="102648" marT="51324" marB="513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Predictive</a:t>
                      </a:r>
                    </a:p>
                  </a:txBody>
                  <a:tcPr marL="102648" marR="102648" marT="51324" marB="513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During Model</a:t>
                      </a:r>
                    </a:p>
                  </a:txBody>
                  <a:tcPr marL="102648" marR="102648" marT="51324" marB="513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Predict outcomes</a:t>
                      </a:r>
                    </a:p>
                  </a:txBody>
                  <a:tcPr marL="102648" marR="102648" marT="51324" marB="513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638388"/>
                  </a:ext>
                </a:extLst>
              </a:tr>
              <a:tr h="759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Business Strategy</a:t>
                      </a:r>
                    </a:p>
                  </a:txBody>
                  <a:tcPr marL="102648" marR="102648" marT="51324" marB="513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Prescriptive</a:t>
                      </a:r>
                    </a:p>
                  </a:txBody>
                  <a:tcPr marL="102648" marR="102648" marT="51324" marB="513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After Model</a:t>
                      </a:r>
                    </a:p>
                  </a:txBody>
                  <a:tcPr marL="102648" marR="102648" marT="51324" marB="513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Recommend actions</a:t>
                      </a:r>
                    </a:p>
                  </a:txBody>
                  <a:tcPr marL="102648" marR="102648" marT="51324" marB="513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574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2933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0E17B2-B36C-AC29-1F8D-60B682D19707}"/>
              </a:ext>
            </a:extLst>
          </p:cNvPr>
          <p:cNvSpPr txBox="1"/>
          <p:nvPr/>
        </p:nvSpPr>
        <p:spPr>
          <a:xfrm>
            <a:off x="567159" y="300941"/>
            <a:ext cx="11320041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QUARTILE- How It’s Calculated (Step-by-Step)</a:t>
            </a:r>
          </a:p>
          <a:p>
            <a:pPr>
              <a:buNone/>
            </a:pPr>
            <a:r>
              <a:rPr lang="en-US" sz="2800" dirty="0"/>
              <a:t>Let’s use </a:t>
            </a:r>
            <a:r>
              <a:rPr lang="en-US" sz="2800" b="1" dirty="0"/>
              <a:t>Age</a:t>
            </a:r>
            <a:r>
              <a:rPr lang="en-US" sz="2800" dirty="0"/>
              <a:t> again as an example.</a:t>
            </a:r>
          </a:p>
          <a:p>
            <a:pPr>
              <a:buNone/>
            </a:pPr>
            <a:r>
              <a:rPr lang="en-US" sz="2800" dirty="0"/>
              <a:t>1️⃣ </a:t>
            </a:r>
            <a:r>
              <a:rPr lang="en-US" sz="2800" b="1" dirty="0"/>
              <a:t>Sort all ages</a:t>
            </a:r>
            <a:r>
              <a:rPr lang="en-US" sz="2800" dirty="0"/>
              <a:t> (1,470 values) from smallest to largest.</a:t>
            </a:r>
            <a:br>
              <a:rPr lang="en-US" sz="2800" dirty="0"/>
            </a:br>
            <a:r>
              <a:rPr lang="en-US" sz="2800" dirty="0"/>
              <a:t>2️⃣ Find positions that mark the </a:t>
            </a:r>
            <a:r>
              <a:rPr lang="en-US" sz="2800" b="1" dirty="0"/>
              <a:t>25th</a:t>
            </a:r>
            <a:r>
              <a:rPr lang="en-US" sz="2800" dirty="0"/>
              <a:t>, </a:t>
            </a:r>
            <a:r>
              <a:rPr lang="en-US" sz="2800" b="1" dirty="0"/>
              <a:t>50th</a:t>
            </a:r>
            <a:r>
              <a:rPr lang="en-US" sz="2800" dirty="0"/>
              <a:t>, and </a:t>
            </a:r>
            <a:r>
              <a:rPr lang="en-US" sz="2800" b="1" dirty="0"/>
              <a:t>75th percentiles</a:t>
            </a:r>
            <a:r>
              <a:rPr lang="en-US" sz="28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25% (Q1)</a:t>
            </a:r>
            <a:r>
              <a:rPr lang="en-US" sz="2800" dirty="0"/>
              <a:t> = the value at 0.25 × 1470 = </a:t>
            </a:r>
            <a:r>
              <a:rPr lang="en-US" sz="2800" b="1" dirty="0"/>
              <a:t>367.5th</a:t>
            </a:r>
            <a:r>
              <a:rPr lang="en-US" sz="2800" dirty="0"/>
              <a:t> position → 367th or 368th smallest 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50% (Q2)</a:t>
            </a:r>
            <a:r>
              <a:rPr lang="en-US" sz="2800" dirty="0"/>
              <a:t> = 0.50 × 1470 = </a:t>
            </a:r>
            <a:r>
              <a:rPr lang="en-US" sz="2800" b="1" dirty="0"/>
              <a:t>735th</a:t>
            </a:r>
            <a:r>
              <a:rPr lang="en-US" sz="2800" dirty="0"/>
              <a:t> position → this is the </a:t>
            </a:r>
            <a:r>
              <a:rPr lang="en-US" sz="2800" b="1" dirty="0"/>
              <a:t>median</a:t>
            </a:r>
            <a:r>
              <a:rPr lang="en-US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75% (Q3)</a:t>
            </a:r>
            <a:r>
              <a:rPr lang="en-US" sz="2800" dirty="0"/>
              <a:t> = 0.75 × 1470 = </a:t>
            </a:r>
            <a:r>
              <a:rPr lang="en-US" sz="2800" b="1" dirty="0"/>
              <a:t>1102.5th</a:t>
            </a:r>
            <a:r>
              <a:rPr lang="en-US" sz="2800" dirty="0"/>
              <a:t> position → around the 1102nd value.</a:t>
            </a:r>
          </a:p>
          <a:p>
            <a:pPr>
              <a:buNone/>
            </a:pPr>
            <a:r>
              <a:rPr lang="en-US" sz="2800" dirty="0"/>
              <a:t>📘 So the value listed at 25% (Q1 = 30) means:</a:t>
            </a:r>
            <a:br>
              <a:rPr lang="en-US" sz="2800" dirty="0"/>
            </a:br>
            <a:r>
              <a:rPr lang="en-US" sz="2800" dirty="0"/>
              <a:t>If you line up all employees by age from youngest to oldest, </a:t>
            </a:r>
            <a:r>
              <a:rPr lang="en-US" sz="2800" b="1" dirty="0"/>
              <a:t>the 367th employee’s age is 30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That’s the </a:t>
            </a:r>
            <a:r>
              <a:rPr lang="en-US" sz="2800" i="1" dirty="0"/>
              <a:t>cutoff</a:t>
            </a:r>
            <a:r>
              <a:rPr lang="en-US" sz="2800" dirty="0"/>
              <a:t> where 25% of employees are younger than or equal to 30.</a:t>
            </a:r>
          </a:p>
        </p:txBody>
      </p:sp>
    </p:spTree>
    <p:extLst>
      <p:ext uri="{BB962C8B-B14F-4D97-AF65-F5344CB8AC3E}">
        <p14:creationId xmlns:p14="http://schemas.microsoft.com/office/powerpoint/2010/main" val="2325948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84C38F79-1181-81BE-D7EA-27980EE183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10B74F-C389-3927-6E61-B33703D8B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725" y="2131815"/>
            <a:ext cx="8883571" cy="49970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ADC433-1174-C132-0477-7A8C89A86C5A}"/>
              </a:ext>
            </a:extLst>
          </p:cNvPr>
          <p:cNvSpPr txBox="1"/>
          <p:nvPr/>
        </p:nvSpPr>
        <p:spPr>
          <a:xfrm>
            <a:off x="135237" y="270824"/>
            <a:ext cx="11844559" cy="2002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b="1" dirty="0">
                <a:highlight>
                  <a:srgbClr val="FF0000"/>
                </a:highlight>
              </a:rPr>
              <a:t>What Is a Confusion Matrix?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 </a:t>
            </a:r>
            <a:r>
              <a:rPr lang="en-US" sz="2800" b="1" dirty="0"/>
              <a:t>Confusion Matrix</a:t>
            </a:r>
            <a:r>
              <a:rPr lang="en-US" sz="2800" dirty="0"/>
              <a:t> is a simple 2×2 table that shows how well your classification model performed — comparing the </a:t>
            </a:r>
            <a:r>
              <a:rPr lang="en-US" sz="2800" b="1" dirty="0"/>
              <a:t>actual labels</a:t>
            </a:r>
            <a:r>
              <a:rPr lang="en-US" sz="2800" dirty="0"/>
              <a:t> to the </a:t>
            </a:r>
            <a:r>
              <a:rPr lang="en-US" sz="2800" b="1" dirty="0"/>
              <a:t>predicted labels</a:t>
            </a:r>
            <a:r>
              <a:rPr lang="en-US" sz="28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It’s called “confusion” because it shows where the model is </a:t>
            </a:r>
            <a:r>
              <a:rPr lang="en-US" sz="2800" i="1" dirty="0"/>
              <a:t>confused</a:t>
            </a:r>
            <a:r>
              <a:rPr lang="en-US" sz="2800" dirty="0"/>
              <a:t> between classes (i.e., predicting “Yes” when it should be “No,” etc.).</a:t>
            </a:r>
          </a:p>
        </p:txBody>
      </p:sp>
    </p:spTree>
    <p:extLst>
      <p:ext uri="{BB962C8B-B14F-4D97-AF65-F5344CB8AC3E}">
        <p14:creationId xmlns:p14="http://schemas.microsoft.com/office/powerpoint/2010/main" val="4290496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88B9E1EB-761D-AB22-3FA5-840DCA49E2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2B9C4C-B51B-662F-AD40-EFA6E90AE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81784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4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6252B19-E1F1-2904-C37D-293FDBCAC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81" y="116775"/>
            <a:ext cx="10909640" cy="15501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1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Understanding the Layout</a:t>
            </a:r>
          </a:p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100" b="0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The confusion matrix shows </a:t>
            </a:r>
            <a:r>
              <a:rPr kumimoji="0" lang="en-US" altLang="en-US" sz="31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Predicted vs Actual outcomes</a:t>
            </a:r>
            <a:r>
              <a:rPr kumimoji="0" lang="en-US" altLang="en-US" sz="3100" b="0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:</a:t>
            </a:r>
          </a:p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31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649E9EE-2267-CABB-74CF-B433C7F17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035618"/>
              </p:ext>
            </p:extLst>
          </p:nvPr>
        </p:nvGraphicFramePr>
        <p:xfrm>
          <a:off x="104172" y="1770030"/>
          <a:ext cx="11979799" cy="4449795"/>
        </p:xfrm>
        <a:graphic>
          <a:graphicData uri="http://schemas.openxmlformats.org/drawingml/2006/table">
            <a:tbl>
              <a:tblPr/>
              <a:tblGrid>
                <a:gridCol w="3137059">
                  <a:extLst>
                    <a:ext uri="{9D8B030D-6E8A-4147-A177-3AD203B41FA5}">
                      <a16:colId xmlns:a16="http://schemas.microsoft.com/office/drawing/2014/main" val="2831750189"/>
                    </a:ext>
                  </a:extLst>
                </a:gridCol>
                <a:gridCol w="4224440">
                  <a:extLst>
                    <a:ext uri="{9D8B030D-6E8A-4147-A177-3AD203B41FA5}">
                      <a16:colId xmlns:a16="http://schemas.microsoft.com/office/drawing/2014/main" val="146430915"/>
                    </a:ext>
                  </a:extLst>
                </a:gridCol>
                <a:gridCol w="4618300">
                  <a:extLst>
                    <a:ext uri="{9D8B030D-6E8A-4147-A177-3AD203B41FA5}">
                      <a16:colId xmlns:a16="http://schemas.microsoft.com/office/drawing/2014/main" val="2528358026"/>
                    </a:ext>
                  </a:extLst>
                </a:gridCol>
              </a:tblGrid>
              <a:tr h="148326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3200"/>
                    </a:p>
                  </a:txBody>
                  <a:tcPr marL="161547" marR="161547" marT="80774" marB="80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/>
                        <a:t>Actual: Yes (Attrition)</a:t>
                      </a:r>
                      <a:endParaRPr lang="en-IN" sz="3200" dirty="0"/>
                    </a:p>
                  </a:txBody>
                  <a:tcPr marL="161547" marR="161547" marT="80774" marB="80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/>
                        <a:t>Actual: No (Stayed)</a:t>
                      </a:r>
                      <a:endParaRPr lang="en-IN" sz="3200"/>
                    </a:p>
                  </a:txBody>
                  <a:tcPr marL="161547" marR="161547" marT="80774" marB="80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462395"/>
                  </a:ext>
                </a:extLst>
              </a:tr>
              <a:tr h="1483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/>
                        <a:t>Predicted: Yes</a:t>
                      </a:r>
                      <a:endParaRPr lang="en-IN" sz="3200"/>
                    </a:p>
                  </a:txBody>
                  <a:tcPr marL="161547" marR="161547" marT="80774" marB="80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/>
                        <a:t>True Positive (TP) = 15</a:t>
                      </a:r>
                      <a:endParaRPr lang="en-IN" sz="3200"/>
                    </a:p>
                  </a:txBody>
                  <a:tcPr marL="161547" marR="161547" marT="80774" marB="80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/>
                        <a:t>False Positive (FP) = 20</a:t>
                      </a:r>
                      <a:endParaRPr lang="en-IN" sz="3200" dirty="0"/>
                    </a:p>
                  </a:txBody>
                  <a:tcPr marL="161547" marR="161547" marT="80774" marB="80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962682"/>
                  </a:ext>
                </a:extLst>
              </a:tr>
              <a:tr h="1483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/>
                        <a:t>Predicted: No</a:t>
                      </a:r>
                      <a:endParaRPr lang="en-IN" sz="3200"/>
                    </a:p>
                  </a:txBody>
                  <a:tcPr marL="161547" marR="161547" marT="80774" marB="80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/>
                        <a:t>False Negative (FN) = 35</a:t>
                      </a:r>
                      <a:endParaRPr lang="en-IN" sz="3200"/>
                    </a:p>
                  </a:txBody>
                  <a:tcPr marL="161547" marR="161547" marT="80774" marB="80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/>
                        <a:t>True Negative (TN) = 230</a:t>
                      </a:r>
                      <a:endParaRPr lang="en-IN" sz="3200" dirty="0"/>
                    </a:p>
                  </a:txBody>
                  <a:tcPr marL="161547" marR="161547" marT="80774" marB="807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169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2449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21E7B9C-9AA5-7782-EF25-749A22486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81" y="417576"/>
            <a:ext cx="10909640" cy="124939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66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Meaning of Each Cell</a:t>
            </a:r>
          </a:p>
          <a:p>
            <a:pPr marL="0" marR="0" lv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66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FD76300-6500-01E6-5439-DB42916E9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085407"/>
              </p:ext>
            </p:extLst>
          </p:nvPr>
        </p:nvGraphicFramePr>
        <p:xfrm>
          <a:off x="320040" y="2731015"/>
          <a:ext cx="11548873" cy="3391270"/>
        </p:xfrm>
        <a:graphic>
          <a:graphicData uri="http://schemas.openxmlformats.org/drawingml/2006/table">
            <a:tbl>
              <a:tblPr/>
              <a:tblGrid>
                <a:gridCol w="3823488">
                  <a:extLst>
                    <a:ext uri="{9D8B030D-6E8A-4147-A177-3AD203B41FA5}">
                      <a16:colId xmlns:a16="http://schemas.microsoft.com/office/drawing/2014/main" val="1734132686"/>
                    </a:ext>
                  </a:extLst>
                </a:gridCol>
                <a:gridCol w="3901897">
                  <a:extLst>
                    <a:ext uri="{9D8B030D-6E8A-4147-A177-3AD203B41FA5}">
                      <a16:colId xmlns:a16="http://schemas.microsoft.com/office/drawing/2014/main" val="2576782284"/>
                    </a:ext>
                  </a:extLst>
                </a:gridCol>
                <a:gridCol w="3823488">
                  <a:extLst>
                    <a:ext uri="{9D8B030D-6E8A-4147-A177-3AD203B41FA5}">
                      <a16:colId xmlns:a16="http://schemas.microsoft.com/office/drawing/2014/main" val="2748069003"/>
                    </a:ext>
                  </a:extLst>
                </a:gridCol>
              </a:tblGrid>
              <a:tr h="438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Cell</a:t>
                      </a:r>
                    </a:p>
                  </a:txBody>
                  <a:tcPr marL="99743" marR="99743" marT="49872" marB="49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Description</a:t>
                      </a:r>
                    </a:p>
                  </a:txBody>
                  <a:tcPr marL="99743" marR="99743" marT="49872" marB="49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HR Attrition Example</a:t>
                      </a:r>
                    </a:p>
                  </a:txBody>
                  <a:tcPr marL="99743" marR="99743" marT="49872" marB="49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905791"/>
                  </a:ext>
                </a:extLst>
              </a:tr>
              <a:tr h="738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True Positive (TP = 15)</a:t>
                      </a:r>
                      <a:endParaRPr lang="en-IN" sz="2000"/>
                    </a:p>
                  </a:txBody>
                  <a:tcPr marL="99743" marR="99743" marT="49872" marB="49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Model correctly predicted attrition.</a:t>
                      </a:r>
                    </a:p>
                  </a:txBody>
                  <a:tcPr marL="99743" marR="99743" marT="49872" marB="49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15 employees predicted to leave actually left.</a:t>
                      </a:r>
                    </a:p>
                  </a:txBody>
                  <a:tcPr marL="99743" marR="99743" marT="49872" marB="49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862725"/>
                  </a:ext>
                </a:extLst>
              </a:tr>
              <a:tr h="738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False Positive (FP = 20)</a:t>
                      </a:r>
                      <a:endParaRPr lang="en-IN" sz="2000"/>
                    </a:p>
                  </a:txBody>
                  <a:tcPr marL="99743" marR="99743" marT="49872" marB="49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Model predicted attrition but they stayed.</a:t>
                      </a:r>
                    </a:p>
                  </a:txBody>
                  <a:tcPr marL="99743" marR="99743" marT="49872" marB="49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20 employees predicted to leave but actually stayed.</a:t>
                      </a:r>
                    </a:p>
                  </a:txBody>
                  <a:tcPr marL="99743" marR="99743" marT="49872" marB="49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923749"/>
                  </a:ext>
                </a:extLst>
              </a:tr>
              <a:tr h="738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False Negative (FN = 35)</a:t>
                      </a:r>
                      <a:endParaRPr lang="en-IN" sz="2000"/>
                    </a:p>
                  </a:txBody>
                  <a:tcPr marL="99743" marR="99743" marT="49872" marB="49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Model predicted they’ll stay but they left.</a:t>
                      </a:r>
                    </a:p>
                  </a:txBody>
                  <a:tcPr marL="99743" marR="99743" marT="49872" marB="49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35 employees left even though model predicted they’d stay.</a:t>
                      </a:r>
                    </a:p>
                  </a:txBody>
                  <a:tcPr marL="99743" marR="99743" marT="49872" marB="49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8987000"/>
                  </a:ext>
                </a:extLst>
              </a:tr>
              <a:tr h="738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True Negative (TN = 230)</a:t>
                      </a:r>
                      <a:endParaRPr lang="en-IN" sz="2000"/>
                    </a:p>
                  </a:txBody>
                  <a:tcPr marL="99743" marR="99743" marT="49872" marB="49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Model correctly predicted they’ll stay.</a:t>
                      </a:r>
                    </a:p>
                  </a:txBody>
                  <a:tcPr marL="99743" marR="99743" marT="49872" marB="49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230 employees predicted to stay actually stayed.</a:t>
                      </a:r>
                    </a:p>
                  </a:txBody>
                  <a:tcPr marL="99743" marR="99743" marT="49872" marB="498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72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576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1676C7A-D25E-2182-C4D2-6256FE923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84805"/>
            <a:ext cx="10515600" cy="15058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52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Key Metrics Derived from It</a:t>
            </a: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52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5FD30BC-4F27-11F0-1A57-B326B155A2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001195"/>
              </p:ext>
            </p:extLst>
          </p:nvPr>
        </p:nvGraphicFramePr>
        <p:xfrm>
          <a:off x="838200" y="2179539"/>
          <a:ext cx="10512548" cy="3782079"/>
        </p:xfrm>
        <a:graphic>
          <a:graphicData uri="http://schemas.openxmlformats.org/drawingml/2006/table">
            <a:tbl>
              <a:tblPr/>
              <a:tblGrid>
                <a:gridCol w="3131397">
                  <a:extLst>
                    <a:ext uri="{9D8B030D-6E8A-4147-A177-3AD203B41FA5}">
                      <a16:colId xmlns:a16="http://schemas.microsoft.com/office/drawing/2014/main" val="919060075"/>
                    </a:ext>
                  </a:extLst>
                </a:gridCol>
                <a:gridCol w="3758355">
                  <a:extLst>
                    <a:ext uri="{9D8B030D-6E8A-4147-A177-3AD203B41FA5}">
                      <a16:colId xmlns:a16="http://schemas.microsoft.com/office/drawing/2014/main" val="4121678222"/>
                    </a:ext>
                  </a:extLst>
                </a:gridCol>
                <a:gridCol w="3622796">
                  <a:extLst>
                    <a:ext uri="{9D8B030D-6E8A-4147-A177-3AD203B41FA5}">
                      <a16:colId xmlns:a16="http://schemas.microsoft.com/office/drawing/2014/main" val="2105226302"/>
                    </a:ext>
                  </a:extLst>
                </a:gridCol>
              </a:tblGrid>
              <a:tr h="5368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Metric</a:t>
                      </a:r>
                    </a:p>
                  </a:txBody>
                  <a:tcPr marL="122002" marR="122002" marT="61001" marB="610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Formula</a:t>
                      </a:r>
                    </a:p>
                  </a:txBody>
                  <a:tcPr marL="122002" marR="122002" marT="61001" marB="610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What It Measures</a:t>
                      </a:r>
                    </a:p>
                  </a:txBody>
                  <a:tcPr marL="122002" marR="122002" marT="61001" marB="610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866227"/>
                  </a:ext>
                </a:extLst>
              </a:tr>
              <a:tr h="5368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0" u="none" strike="noStrike">
                          <a:effectLst/>
                          <a:latin typeface="Arial" panose="020B0604020202020204" pitchFamily="34" charset="0"/>
                        </a:rPr>
                        <a:t>Accuracy</a:t>
                      </a:r>
                      <a:endParaRPr lang="en-I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2002" marR="122002" marT="61001" marB="610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(TP + TN) / Total</a:t>
                      </a:r>
                    </a:p>
                  </a:txBody>
                  <a:tcPr marL="122002" marR="122002" marT="61001" marB="610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Overall correctness</a:t>
                      </a:r>
                    </a:p>
                  </a:txBody>
                  <a:tcPr marL="122002" marR="122002" marT="61001" marB="610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613029"/>
                  </a:ext>
                </a:extLst>
              </a:tr>
              <a:tr h="9028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0" u="none" strike="noStrike">
                          <a:effectLst/>
                          <a:latin typeface="Arial" panose="020B0604020202020204" pitchFamily="34" charset="0"/>
                        </a:rPr>
                        <a:t>Precision</a:t>
                      </a:r>
                      <a:endParaRPr lang="en-I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2002" marR="122002" marT="61001" marB="610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TP / (TP + FP)</a:t>
                      </a:r>
                    </a:p>
                  </a:txBody>
                  <a:tcPr marL="122002" marR="122002" marT="61001" marB="610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Arial" panose="020B0604020202020204" pitchFamily="34" charset="0"/>
                        </a:rPr>
                        <a:t>Of predicted “Yes,” how many were truly “Yes”</a:t>
                      </a:r>
                    </a:p>
                  </a:txBody>
                  <a:tcPr marL="122002" marR="122002" marT="61001" marB="610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193621"/>
                  </a:ext>
                </a:extLst>
              </a:tr>
              <a:tr h="9028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0" u="none" strike="noStrike">
                          <a:effectLst/>
                          <a:latin typeface="Arial" panose="020B0604020202020204" pitchFamily="34" charset="0"/>
                        </a:rPr>
                        <a:t>Recall (Sensitivity)</a:t>
                      </a:r>
                      <a:endParaRPr lang="en-I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2002" marR="122002" marT="61001" marB="610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TP / (TP + FN)</a:t>
                      </a:r>
                    </a:p>
                  </a:txBody>
                  <a:tcPr marL="122002" marR="122002" marT="61001" marB="610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Arial" panose="020B0604020202020204" pitchFamily="34" charset="0"/>
                        </a:rPr>
                        <a:t>Of actual “Yes,” how many did we detect</a:t>
                      </a:r>
                    </a:p>
                  </a:txBody>
                  <a:tcPr marL="122002" marR="122002" marT="61001" marB="610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889319"/>
                  </a:ext>
                </a:extLst>
              </a:tr>
              <a:tr h="9028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1" i="0" u="none" strike="noStrike">
                          <a:effectLst/>
                          <a:latin typeface="Arial" panose="020B0604020202020204" pitchFamily="34" charset="0"/>
                        </a:rPr>
                        <a:t>F1-Score</a:t>
                      </a:r>
                      <a:endParaRPr lang="en-I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2002" marR="122002" marT="61001" marB="610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2 × (Precision × Recall) / (Precision + Recall)</a:t>
                      </a:r>
                    </a:p>
                  </a:txBody>
                  <a:tcPr marL="122002" marR="122002" marT="61001" marB="610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effectLst/>
                          <a:latin typeface="Arial" panose="020B0604020202020204" pitchFamily="34" charset="0"/>
                        </a:rPr>
                        <a:t>Balance between precision &amp; recall</a:t>
                      </a:r>
                    </a:p>
                  </a:txBody>
                  <a:tcPr marL="122002" marR="122002" marT="61001" marB="610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439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521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7D5293-ACBA-5A86-1A32-CD35AE969685}"/>
                  </a:ext>
                </a:extLst>
              </p:cNvPr>
              <p:cNvSpPr txBox="1"/>
              <p:nvPr/>
            </p:nvSpPr>
            <p:spPr>
              <a:xfrm>
                <a:off x="1157467" y="544010"/>
                <a:ext cx="10301469" cy="47076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Metrics Derived</a:t>
                </a:r>
              </a:p>
              <a:p>
                <a:pPr>
                  <a:buNone/>
                </a:pPr>
                <a:r>
                  <a:rPr lang="en-IN" dirty="0"/>
                  <a:t>Let’s calculate the performance indicators:</a:t>
                </a:r>
              </a:p>
              <a:p>
                <a:pPr>
                  <a:buFont typeface="+mj-lt"/>
                  <a:buAutoNum type="arabicPeriod"/>
                </a:pPr>
                <a:r>
                  <a:rPr lang="en-IN" b="1" dirty="0"/>
                  <a:t>Accuracy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230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230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35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245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300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8167</m:t>
                      </m:r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 </m:t>
                      </m:r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81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  <a:p>
                <a:pPr>
                  <a:buFont typeface="+mj-lt"/>
                  <a:buAutoNum type="arabicPeriod"/>
                </a:pPr>
                <a:r>
                  <a:rPr lang="en-IN" b="1" dirty="0"/>
                  <a:t>Precision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4286</m:t>
                      </m:r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 </m:t>
                      </m:r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42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  <a:p>
                <a:pPr>
                  <a:buFont typeface="+mj-lt"/>
                  <a:buAutoNum type="arabicPeriod"/>
                </a:pPr>
                <a:r>
                  <a:rPr lang="ar-AE" dirty="0"/>
                  <a:t>→ </a:t>
                </a:r>
                <a:r>
                  <a:rPr lang="en-IN" dirty="0"/>
                  <a:t>Out of all predicted attritions, only 42.9% were correct.</a:t>
                </a:r>
              </a:p>
              <a:p>
                <a:pPr>
                  <a:buFont typeface="+mj-lt"/>
                  <a:buAutoNum type="arabicPeriod"/>
                </a:pPr>
                <a:r>
                  <a:rPr lang="en-IN" b="1" dirty="0"/>
                  <a:t>Recall (Sensitivity)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35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 </m:t>
                      </m:r>
                      <m:d>
                        <m:d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  <a:p>
                <a:pPr>
                  <a:buFont typeface="+mj-lt"/>
                  <a:buAutoNum type="arabicPeriod"/>
                </a:pPr>
                <a:r>
                  <a:rPr lang="ar-AE" dirty="0"/>
                  <a:t>→ </a:t>
                </a:r>
                <a:r>
                  <a:rPr lang="en-IN" dirty="0"/>
                  <a:t>Out of all actual attritions, the model captured only 30%.</a:t>
                </a:r>
              </a:p>
              <a:p>
                <a:pPr>
                  <a:buFont typeface="+mj-lt"/>
                  <a:buAutoNum type="arabicPeriod"/>
                </a:pPr>
                <a:r>
                  <a:rPr lang="en-IN" b="1" dirty="0"/>
                  <a:t>F1 Score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4286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4286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ar-AE" i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35</m:t>
                      </m:r>
                    </m:oMath>
                  </m:oMathPara>
                </a14:m>
                <a:endParaRPr lang="ar-AE" dirty="0"/>
              </a:p>
              <a:p>
                <a:pPr>
                  <a:buFont typeface="+mj-lt"/>
                  <a:buAutoNum type="arabicPeriod"/>
                </a:pPr>
                <a:r>
                  <a:rPr lang="ar-AE" dirty="0"/>
                  <a:t>→ </a:t>
                </a:r>
                <a:r>
                  <a:rPr lang="en-IN" dirty="0"/>
                  <a:t>Balances precision and recall.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7D5293-ACBA-5A86-1A32-CD35AE969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467" y="544010"/>
                <a:ext cx="10301469" cy="4707635"/>
              </a:xfrm>
              <a:prstGeom prst="rect">
                <a:avLst/>
              </a:prstGeom>
              <a:blipFill>
                <a:blip r:embed="rId2"/>
                <a:stretch>
                  <a:fillRect l="-533" t="-518" b="-12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1087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DE88F3-52E0-8617-35D2-C1B910ECD8E5}"/>
              </a:ext>
            </a:extLst>
          </p:cNvPr>
          <p:cNvSpPr txBox="1"/>
          <p:nvPr/>
        </p:nvSpPr>
        <p:spPr>
          <a:xfrm>
            <a:off x="3047036" y="1308235"/>
            <a:ext cx="609407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Now Your </a:t>
            </a:r>
            <a:r>
              <a:rPr lang="en-US" b="1" dirty="0" err="1"/>
              <a:t>XGBoost</a:t>
            </a:r>
            <a:r>
              <a:rPr lang="en-US" b="1" dirty="0"/>
              <a:t> Classification Report Explained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      precision    recall  f1-score   support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   0       0.88      0.98      0.93       247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       1       0.78      0.30      0.43        47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accuracy                           0.87       294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macro avg       0.83      0.64      0.68       294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weighted avg       0.86      0.87      0.85       294</a:t>
            </a:r>
          </a:p>
        </p:txBody>
      </p:sp>
    </p:spTree>
    <p:extLst>
      <p:ext uri="{BB962C8B-B14F-4D97-AF65-F5344CB8AC3E}">
        <p14:creationId xmlns:p14="http://schemas.microsoft.com/office/powerpoint/2010/main" val="65804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E497A97-B7C0-2F3A-7B21-70FEDD742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184" y="1459907"/>
            <a:ext cx="10175630" cy="76790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Class 0 — Attrition = No (Employees Stayed)</a:t>
            </a:r>
          </a:p>
          <a:p>
            <a:pPr marL="0" marR="0" lvl="0" indent="-22860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✅ Interpretation: The model handles the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majority class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 very well.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7620D0-CB77-4667-81EC-1E56D401E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881945"/>
              </p:ext>
            </p:extLst>
          </p:nvPr>
        </p:nvGraphicFramePr>
        <p:xfrm>
          <a:off x="1773588" y="2405149"/>
          <a:ext cx="8638728" cy="3899394"/>
        </p:xfrm>
        <a:graphic>
          <a:graphicData uri="http://schemas.openxmlformats.org/drawingml/2006/table">
            <a:tbl>
              <a:tblPr/>
              <a:tblGrid>
                <a:gridCol w="3215745">
                  <a:extLst>
                    <a:ext uri="{9D8B030D-6E8A-4147-A177-3AD203B41FA5}">
                      <a16:colId xmlns:a16="http://schemas.microsoft.com/office/drawing/2014/main" val="320941278"/>
                    </a:ext>
                  </a:extLst>
                </a:gridCol>
                <a:gridCol w="3511469">
                  <a:extLst>
                    <a:ext uri="{9D8B030D-6E8A-4147-A177-3AD203B41FA5}">
                      <a16:colId xmlns:a16="http://schemas.microsoft.com/office/drawing/2014/main" val="2506590692"/>
                    </a:ext>
                  </a:extLst>
                </a:gridCol>
                <a:gridCol w="1911514">
                  <a:extLst>
                    <a:ext uri="{9D8B030D-6E8A-4147-A177-3AD203B41FA5}">
                      <a16:colId xmlns:a16="http://schemas.microsoft.com/office/drawing/2014/main" val="1353456483"/>
                    </a:ext>
                  </a:extLst>
                </a:gridCol>
              </a:tblGrid>
              <a:tr h="3990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Arial" panose="020B0604020202020204" pitchFamily="34" charset="0"/>
                        </a:rPr>
                        <a:t>Metric</a:t>
                      </a:r>
                    </a:p>
                  </a:txBody>
                  <a:tcPr marL="90684" marR="90684" marT="45342" marB="45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Arial" panose="020B0604020202020204" pitchFamily="34" charset="0"/>
                        </a:rPr>
                        <a:t>Value</a:t>
                      </a:r>
                    </a:p>
                  </a:txBody>
                  <a:tcPr marL="90684" marR="90684" marT="45342" marB="45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effectLst/>
                          <a:latin typeface="Arial" panose="020B0604020202020204" pitchFamily="34" charset="0"/>
                        </a:rPr>
                        <a:t>Meaning</a:t>
                      </a:r>
                    </a:p>
                  </a:txBody>
                  <a:tcPr marL="90684" marR="90684" marT="45342" marB="45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41040"/>
                  </a:ext>
                </a:extLst>
              </a:tr>
              <a:tr h="9431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effectLst/>
                          <a:latin typeface="Arial" panose="020B0604020202020204" pitchFamily="34" charset="0"/>
                        </a:rPr>
                        <a:t>Precision (0.88)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684" marR="90684" marT="45342" marB="45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Of all employees the model predicted as staying, 88% really stayed.</a:t>
                      </a:r>
                    </a:p>
                  </a:txBody>
                  <a:tcPr marL="90684" marR="90684" marT="45342" marB="45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684" marR="90684" marT="45342" marB="45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045354"/>
                  </a:ext>
                </a:extLst>
              </a:tr>
              <a:tr h="9431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effectLst/>
                          <a:latin typeface="Arial" panose="020B0604020202020204" pitchFamily="34" charset="0"/>
                        </a:rPr>
                        <a:t>Recall (0.98)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684" marR="90684" marT="45342" marB="45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The model correctly identified 98% of all employees who actually stayed.</a:t>
                      </a:r>
                    </a:p>
                  </a:txBody>
                  <a:tcPr marL="90684" marR="90684" marT="45342" marB="45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684" marR="90684" marT="45342" marB="45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803253"/>
                  </a:ext>
                </a:extLst>
              </a:tr>
              <a:tr h="9431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effectLst/>
                          <a:latin typeface="Arial" panose="020B0604020202020204" pitchFamily="34" charset="0"/>
                        </a:rPr>
                        <a:t>F1-score (0.93)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684" marR="90684" marT="45342" marB="45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Excellent balance — model is very good at predicting “No Attrition.”</a:t>
                      </a:r>
                    </a:p>
                  </a:txBody>
                  <a:tcPr marL="90684" marR="90684" marT="45342" marB="45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684" marR="90684" marT="45342" marB="45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721721"/>
                  </a:ext>
                </a:extLst>
              </a:tr>
              <a:tr h="6710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1" i="0" u="none" strike="noStrike">
                          <a:effectLst/>
                          <a:latin typeface="Arial" panose="020B0604020202020204" pitchFamily="34" charset="0"/>
                        </a:rPr>
                        <a:t>Support (247)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684" marR="90684" marT="45342" marB="45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There were 247 actual “No” cases in test data.</a:t>
                      </a:r>
                    </a:p>
                  </a:txBody>
                  <a:tcPr marL="90684" marR="90684" marT="45342" marB="45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0684" marR="90684" marT="45342" marB="45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629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0399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B6B4AE7-886C-806B-D35C-7D43105CF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184" y="1459907"/>
            <a:ext cx="10175630" cy="76790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-22860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Class 1 — Attrition = Yes (Employees Left)</a:t>
            </a:r>
          </a:p>
          <a:p>
            <a:pPr marL="0" marR="0" lvl="0" indent="-22860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⚠️ Interpretation: The model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struggles to catch all attrition cases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— it’s cautious (predicts fewer “Yes”), leading to higher precision but lower recall.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B23B6C-B2F0-1A53-E1A8-4CEE123957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438466"/>
              </p:ext>
            </p:extLst>
          </p:nvPr>
        </p:nvGraphicFramePr>
        <p:xfrm>
          <a:off x="1266687" y="2405149"/>
          <a:ext cx="9652531" cy="389939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63023">
                  <a:extLst>
                    <a:ext uri="{9D8B030D-6E8A-4147-A177-3AD203B41FA5}">
                      <a16:colId xmlns:a16="http://schemas.microsoft.com/office/drawing/2014/main" val="3520071113"/>
                    </a:ext>
                  </a:extLst>
                </a:gridCol>
                <a:gridCol w="5736064">
                  <a:extLst>
                    <a:ext uri="{9D8B030D-6E8A-4147-A177-3AD203B41FA5}">
                      <a16:colId xmlns:a16="http://schemas.microsoft.com/office/drawing/2014/main" val="2709511542"/>
                    </a:ext>
                  </a:extLst>
                </a:gridCol>
                <a:gridCol w="1453444">
                  <a:extLst>
                    <a:ext uri="{9D8B030D-6E8A-4147-A177-3AD203B41FA5}">
                      <a16:colId xmlns:a16="http://schemas.microsoft.com/office/drawing/2014/main" val="2652045622"/>
                    </a:ext>
                  </a:extLst>
                </a:gridCol>
              </a:tblGrid>
              <a:tr h="576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chemeClr val="tx1"/>
                          </a:solidFill>
                        </a:rPr>
                        <a:t>Metric</a:t>
                      </a:r>
                    </a:p>
                  </a:txBody>
                  <a:tcPr marL="0" marR="169539" marT="84769" marB="847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 marL="0" marR="169539" marT="84769" marB="847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cap="none" spc="0">
                          <a:solidFill>
                            <a:schemeClr val="tx1"/>
                          </a:solidFill>
                        </a:rPr>
                        <a:t>Meaning</a:t>
                      </a:r>
                    </a:p>
                  </a:txBody>
                  <a:tcPr marL="0" marR="169539" marT="84769" marB="847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239664"/>
                  </a:ext>
                </a:extLst>
              </a:tr>
              <a:tr h="915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cap="none" spc="0">
                          <a:solidFill>
                            <a:schemeClr val="tx1"/>
                          </a:solidFill>
                        </a:rPr>
                        <a:t>Precision (0.78)</a:t>
                      </a:r>
                      <a:endParaRPr lang="en-IN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69539" marT="84769" marB="847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When the model predicts someone will leave, it’s correct 78% of the time.</a:t>
                      </a:r>
                    </a:p>
                  </a:txBody>
                  <a:tcPr marL="0" marR="169539" marT="84769" marB="847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69539" marT="84769" marB="847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60937"/>
                  </a:ext>
                </a:extLst>
              </a:tr>
              <a:tr h="915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cap="none" spc="0">
                          <a:solidFill>
                            <a:schemeClr val="tx1"/>
                          </a:solidFill>
                        </a:rPr>
                        <a:t>Recall (0.30)</a:t>
                      </a:r>
                      <a:endParaRPr lang="en-IN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69539" marT="84769" marB="847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But it detects only 30% of all actual leavers — missing 70%.</a:t>
                      </a:r>
                    </a:p>
                  </a:txBody>
                  <a:tcPr marL="0" marR="169539" marT="84769" marB="847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69539" marT="84769" marB="847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687970"/>
                  </a:ext>
                </a:extLst>
              </a:tr>
              <a:tr h="915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cap="none" spc="0">
                          <a:solidFill>
                            <a:schemeClr val="tx1"/>
                          </a:solidFill>
                        </a:rPr>
                        <a:t>F1-score (0.43)</a:t>
                      </a:r>
                      <a:endParaRPr lang="en-IN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69539" marT="84769" marB="847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Moderate performance because of low recall.</a:t>
                      </a:r>
                    </a:p>
                  </a:txBody>
                  <a:tcPr marL="0" marR="169539" marT="84769" marB="847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69539" marT="84769" marB="847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254259"/>
                  </a:ext>
                </a:extLst>
              </a:tr>
              <a:tr h="576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cap="none" spc="0">
                          <a:solidFill>
                            <a:schemeClr val="tx1"/>
                          </a:solidFill>
                        </a:rPr>
                        <a:t>Support (47)</a:t>
                      </a:r>
                      <a:endParaRPr lang="en-IN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69539" marT="84769" marB="847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cap="none" spc="0">
                          <a:solidFill>
                            <a:schemeClr val="tx1"/>
                          </a:solidFill>
                        </a:rPr>
                        <a:t>There were 47 actual “Yes” cases.</a:t>
                      </a:r>
                    </a:p>
                  </a:txBody>
                  <a:tcPr marL="0" marR="169539" marT="84769" marB="847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69539" marT="84769" marB="8476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754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072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1903</Words>
  <Application>Microsoft Office PowerPoint</Application>
  <PresentationFormat>Widescreen</PresentationFormat>
  <Paragraphs>312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Sivananda choudhury</dc:creator>
  <cp:lastModifiedBy>Sivananda choudhury</cp:lastModifiedBy>
  <cp:revision>12</cp:revision>
  <dcterms:created xsi:type="dcterms:W3CDTF">2025-11-11T05:51:46Z</dcterms:created>
  <dcterms:modified xsi:type="dcterms:W3CDTF">2025-11-12T07:17:14Z</dcterms:modified>
</cp:coreProperties>
</file>